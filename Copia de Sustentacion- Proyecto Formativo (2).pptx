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handoutMasterIdLst>
    <p:handoutMasterId r:id="rId19"/>
  </p:handoutMasterIdLst>
  <p:sldIdLst>
    <p:sldId id="538" r:id="rId2"/>
    <p:sldId id="535" r:id="rId3"/>
    <p:sldId id="537" r:id="rId4"/>
    <p:sldId id="539" r:id="rId5"/>
    <p:sldId id="540" r:id="rId6"/>
    <p:sldId id="541" r:id="rId7"/>
    <p:sldId id="542" r:id="rId8"/>
    <p:sldId id="543" r:id="rId9"/>
    <p:sldId id="544" r:id="rId10"/>
    <p:sldId id="545" r:id="rId11"/>
    <p:sldId id="546" r:id="rId12"/>
    <p:sldId id="547" r:id="rId13"/>
    <p:sldId id="548" r:id="rId14"/>
    <p:sldId id="549" r:id="rId15"/>
    <p:sldId id="550" r:id="rId16"/>
    <p:sldId id="531" r:id="rId17"/>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5" userDrawn="1">
          <p15:clr>
            <a:srgbClr val="A4A3A4"/>
          </p15:clr>
        </p15:guide>
        <p15:guide id="2" pos="3840" userDrawn="1">
          <p15:clr>
            <a:srgbClr val="A4A3A4"/>
          </p15:clr>
        </p15:guide>
        <p15:guide id="3" orient="horz" pos="1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A00"/>
    <a:srgbClr val="4D4D4C"/>
    <a:srgbClr val="343433"/>
    <a:srgbClr val="FF6C00"/>
    <a:srgbClr val="766363"/>
    <a:srgbClr val="FFF5EA"/>
    <a:srgbClr val="0032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328"/>
    <p:restoredTop sz="97242"/>
  </p:normalViewPr>
  <p:slideViewPr>
    <p:cSldViewPr snapToGrid="0">
      <p:cViewPr>
        <p:scale>
          <a:sx n="66" d="100"/>
          <a:sy n="66" d="100"/>
        </p:scale>
        <p:origin x="1290" y="156"/>
      </p:cViewPr>
      <p:guideLst>
        <p:guide orient="horz" pos="595"/>
        <p:guide pos="3840"/>
        <p:guide orient="horz" pos="187"/>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19/01/26</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19/01/26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19/01/26</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19/01/26</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19/01/26</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19/01/26</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19/01/26</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19/01/26</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19/01/26</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19/01/26</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19/01/26</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19/01/26</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19/01/26</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19/01/26</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19/01/26</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015D167A-EE62-EA02-E6F4-53710691F485}"/>
              </a:ext>
            </a:extLst>
          </p:cNvPr>
          <p:cNvSpPr txBox="1"/>
          <p:nvPr/>
        </p:nvSpPr>
        <p:spPr>
          <a:xfrm>
            <a:off x="923331" y="1637437"/>
            <a:ext cx="6453678" cy="3170099"/>
          </a:xfrm>
          <a:prstGeom prst="rect">
            <a:avLst/>
          </a:prstGeom>
          <a:noFill/>
        </p:spPr>
        <p:txBody>
          <a:bodyPr wrap="square" rtlCol="0">
            <a:spAutoFit/>
          </a:bodyPr>
          <a:lstStyle/>
          <a:p>
            <a:pPr marL="0" marR="0" lvl="0" indent="0" algn="l" defTabSz="914400" rtl="0" eaLnBrk="1" fontAlgn="auto" latinLnBrk="0" hangingPunct="1">
              <a:spcBef>
                <a:spcPts val="0"/>
              </a:spcBef>
              <a:spcAft>
                <a:spcPts val="0"/>
              </a:spcAft>
              <a:buClrTx/>
              <a:buSzTx/>
              <a:buFontTx/>
              <a:buNone/>
              <a:tabLst/>
              <a:defRPr/>
            </a:pPr>
            <a:r>
              <a:rPr kumimoji="0" lang="es-MX" sz="4000" b="1" i="0" u="none" strike="noStrike" kern="1200" cap="none" spc="0" normalizeH="0" baseline="0" noProof="0" dirty="0">
                <a:ln>
                  <a:noFill/>
                </a:ln>
                <a:solidFill>
                  <a:prstClr val="black">
                    <a:lumMod val="75000"/>
                    <a:lumOff val="25000"/>
                  </a:prstClr>
                </a:solidFill>
                <a:effectLst/>
                <a:uLnTx/>
                <a:uFillTx/>
                <a:latin typeface="Work Sans Bold Roman" pitchFamily="2" charset="77"/>
                <a:ea typeface="+mn-ea"/>
                <a:cs typeface="+mn-cs"/>
              </a:rPr>
              <a:t>Análisis antropométrico para el control de rendimiento deportivo mediante herramientas de análisis de datos</a:t>
            </a:r>
            <a:endParaRPr kumimoji="0" lang="es-ES" sz="4000" b="1" i="0" u="none" strike="noStrike" kern="1200" cap="none" spc="0" normalizeH="0" baseline="0" noProof="0" dirty="0">
              <a:ln>
                <a:noFill/>
              </a:ln>
              <a:solidFill>
                <a:prstClr val="black">
                  <a:lumMod val="75000"/>
                  <a:lumOff val="25000"/>
                </a:prstClr>
              </a:solidFill>
              <a:effectLst/>
              <a:uLnTx/>
              <a:uFillTx/>
              <a:latin typeface="Work Sans Bold Roman" pitchFamily="2" charset="77"/>
              <a:ea typeface="+mn-ea"/>
              <a:cs typeface="+mn-cs"/>
            </a:endParaRPr>
          </a:p>
        </p:txBody>
      </p:sp>
    </p:spTree>
    <p:extLst>
      <p:ext uri="{BB962C8B-B14F-4D97-AF65-F5344CB8AC3E}">
        <p14:creationId xmlns:p14="http://schemas.microsoft.com/office/powerpoint/2010/main" val="3409726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1FEF253-53C4-B5FA-07C7-0B039B14F52F}"/>
              </a:ext>
            </a:extLst>
          </p:cNvPr>
          <p:cNvSpPr txBox="1"/>
          <p:nvPr/>
        </p:nvSpPr>
        <p:spPr>
          <a:xfrm>
            <a:off x="2273030" y="3577947"/>
            <a:ext cx="7645939" cy="16312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z="2000" b="1" dirty="0">
                <a:solidFill>
                  <a:srgbClr val="4D4D4C"/>
                </a:solidFill>
                <a:latin typeface="WORK SANS BOLD ROMAN" pitchFamily="2" charset="77"/>
              </a:rPr>
              <a:t>JUAN DAVID GUTIERREZ RAMIREZ</a:t>
            </a:r>
            <a:br>
              <a:rPr lang="es-CO" sz="2000" b="1" dirty="0">
                <a:solidFill>
                  <a:srgbClr val="4D4D4C"/>
                </a:solidFill>
                <a:latin typeface="WORK SANS BOLD ROMAN" pitchFamily="2" charset="77"/>
              </a:rPr>
            </a:br>
            <a:r>
              <a:rPr lang="es-CO" sz="2000" b="1" dirty="0">
                <a:solidFill>
                  <a:srgbClr val="4D4D4C"/>
                </a:solidFill>
                <a:latin typeface="WORK SANS BOLD ROMAN" pitchFamily="2" charset="77"/>
              </a:rPr>
              <a:t>JUAN MANUEL UZURIAGA LASSO</a:t>
            </a:r>
            <a:br>
              <a:rPr lang="es-CO" sz="2000" b="1" dirty="0">
                <a:solidFill>
                  <a:srgbClr val="4D4D4C"/>
                </a:solidFill>
                <a:latin typeface="WORK SANS BOLD ROMAN" pitchFamily="2" charset="77"/>
              </a:rPr>
            </a:br>
            <a:r>
              <a:rPr lang="es-CO" sz="2000" b="1" dirty="0">
                <a:solidFill>
                  <a:srgbClr val="4D4D4C"/>
                </a:solidFill>
                <a:latin typeface="WORK SANS BOLD ROMAN" pitchFamily="2" charset="77"/>
              </a:rPr>
              <a:t>MICHAEL FELIPE CORRALES</a:t>
            </a:r>
            <a:br>
              <a:rPr lang="es-CO" sz="2000" b="1" dirty="0">
                <a:solidFill>
                  <a:srgbClr val="4D4D4C"/>
                </a:solidFill>
                <a:latin typeface="WORK SANS BOLD ROMAN" pitchFamily="2" charset="77"/>
              </a:rPr>
            </a:br>
            <a:r>
              <a:rPr lang="es-CO" sz="2000" b="1" dirty="0">
                <a:solidFill>
                  <a:srgbClr val="4D4D4C"/>
                </a:solidFill>
                <a:latin typeface="WORK SANS BOLD ROMAN" pitchFamily="2" charset="77"/>
              </a:rPr>
              <a:t>YERY VALENTINA BECOHE</a:t>
            </a:r>
            <a:br>
              <a:rPr lang="es-CO" sz="2000" b="1" dirty="0">
                <a:solidFill>
                  <a:srgbClr val="4D4D4C"/>
                </a:solidFill>
                <a:latin typeface="WORK SANS BOLD ROMAN" pitchFamily="2" charset="77"/>
              </a:rPr>
            </a:br>
            <a:r>
              <a:rPr lang="es-CO" sz="2000" b="1" dirty="0">
                <a:solidFill>
                  <a:srgbClr val="4D4D4C"/>
                </a:solidFill>
                <a:latin typeface="WORK SANS BOLD ROMAN" pitchFamily="2" charset="77"/>
              </a:rPr>
              <a:t>ROCIO YALANDA</a:t>
            </a:r>
            <a:endParaRPr kumimoji="0" lang="es-CO" sz="2000" b="1" u="none" strike="noStrike" kern="1200" cap="none" spc="0" normalizeH="0" baseline="0" noProof="0" dirty="0">
              <a:ln>
                <a:noFill/>
              </a:ln>
              <a:solidFill>
                <a:srgbClr val="4D4D4C"/>
              </a:solidFill>
              <a:effectLst/>
              <a:uLnTx/>
              <a:uFillTx/>
              <a:latin typeface="WORK SANS BOLD ROMAN" pitchFamily="2" charset="77"/>
            </a:endParaRPr>
          </a:p>
        </p:txBody>
      </p:sp>
      <p:cxnSp>
        <p:nvCxnSpPr>
          <p:cNvPr id="3" name="Conector recto 2">
            <a:extLst>
              <a:ext uri="{FF2B5EF4-FFF2-40B4-BE49-F238E27FC236}">
                <a16:creationId xmlns:a16="http://schemas.microsoft.com/office/drawing/2014/main" id="{AE0C963B-97B4-4F66-1B49-0B47BC7F0F1A}"/>
              </a:ext>
            </a:extLst>
          </p:cNvPr>
          <p:cNvCxnSpPr>
            <a:cxnSpLocks/>
          </p:cNvCxnSpPr>
          <p:nvPr/>
        </p:nvCxnSpPr>
        <p:spPr>
          <a:xfrm>
            <a:off x="4339711" y="3635006"/>
            <a:ext cx="3512572"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9388A4DF-720D-E501-986E-D50B788D2F61}"/>
              </a:ext>
            </a:extLst>
          </p:cNvPr>
          <p:cNvSpPr txBox="1"/>
          <p:nvPr/>
        </p:nvSpPr>
        <p:spPr>
          <a:xfrm>
            <a:off x="4993340" y="3021196"/>
            <a:ext cx="2205317" cy="81560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3100" b="0" i="0" u="none" strike="noStrike" kern="1200" cap="none" spc="0" normalizeH="0" baseline="0" noProof="0" dirty="0">
                <a:ln>
                  <a:noFill/>
                </a:ln>
                <a:solidFill>
                  <a:srgbClr val="38AA00"/>
                </a:solidFill>
                <a:effectLst/>
                <a:uLnTx/>
                <a:uFillTx/>
                <a:latin typeface="Work Sans Light Roman" pitchFamily="2" charset="77"/>
                <a:ea typeface="+mn-ea"/>
                <a:cs typeface="+mn-cs"/>
              </a:rPr>
              <a:t>Integrantes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CO" sz="1600" b="0" i="0" u="none" strike="noStrike" kern="1200" cap="none" spc="0" normalizeH="0" baseline="0" noProof="0" dirty="0">
              <a:ln>
                <a:noFill/>
              </a:ln>
              <a:solidFill>
                <a:prstClr val="black"/>
              </a:solidFill>
              <a:effectLst/>
              <a:uLnTx/>
              <a:uFillTx/>
              <a:latin typeface="Work Sans Light Roman" pitchFamily="2" charset="77"/>
              <a:ea typeface="+mn-ea"/>
              <a:cs typeface="+mn-cs"/>
            </a:endParaRPr>
          </a:p>
        </p:txBody>
      </p:sp>
      <p:pic>
        <p:nvPicPr>
          <p:cNvPr id="13" name="Imagen 12">
            <a:extLst>
              <a:ext uri="{FF2B5EF4-FFF2-40B4-BE49-F238E27FC236}">
                <a16:creationId xmlns:a16="http://schemas.microsoft.com/office/drawing/2014/main" id="{849E4001-09EF-6743-7FBA-89615FEFC7F3}"/>
              </a:ext>
            </a:extLst>
          </p:cNvPr>
          <p:cNvPicPr>
            <a:picLocks noChangeAspect="1"/>
          </p:cNvPicPr>
          <p:nvPr/>
        </p:nvPicPr>
        <p:blipFill>
          <a:blip r:embed="rId3"/>
          <a:stretch>
            <a:fillRect/>
          </a:stretch>
        </p:blipFill>
        <p:spPr>
          <a:xfrm>
            <a:off x="4993340" y="660988"/>
            <a:ext cx="2205317" cy="2205317"/>
          </a:xfrm>
          <a:prstGeom prst="rect">
            <a:avLst/>
          </a:prstGeom>
        </p:spPr>
      </p:pic>
    </p:spTree>
    <p:extLst>
      <p:ext uri="{BB962C8B-B14F-4D97-AF65-F5344CB8AC3E}">
        <p14:creationId xmlns:p14="http://schemas.microsoft.com/office/powerpoint/2010/main" val="1971142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951D1C-ACAB-30A9-933A-FC96DF28A2F0}"/>
              </a:ext>
            </a:extLst>
          </p:cNvPr>
          <p:cNvSpPr txBox="1">
            <a:spLocks/>
          </p:cNvSpPr>
          <p:nvPr/>
        </p:nvSpPr>
        <p:spPr>
          <a:xfrm>
            <a:off x="1074875" y="1422048"/>
            <a:ext cx="4426711" cy="286051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600" b="1" dirty="0">
                <a:solidFill>
                  <a:srgbClr val="38AA00"/>
                </a:solidFill>
                <a:latin typeface="WORK SANS BOLD ROMAN" pitchFamily="2" charset="77"/>
              </a:rPr>
              <a:t>Contenido</a:t>
            </a:r>
          </a:p>
        </p:txBody>
      </p:sp>
      <p:sp>
        <p:nvSpPr>
          <p:cNvPr id="3" name="CuadroTexto 2">
            <a:extLst>
              <a:ext uri="{FF2B5EF4-FFF2-40B4-BE49-F238E27FC236}">
                <a16:creationId xmlns:a16="http://schemas.microsoft.com/office/drawing/2014/main" id="{CF6697F3-B1A3-FADB-1243-D89866428CB1}"/>
              </a:ext>
            </a:extLst>
          </p:cNvPr>
          <p:cNvSpPr txBox="1"/>
          <p:nvPr/>
        </p:nvSpPr>
        <p:spPr>
          <a:xfrm>
            <a:off x="1074875" y="2142743"/>
            <a:ext cx="3854368" cy="3293209"/>
          </a:xfrm>
          <a:prstGeom prst="rect">
            <a:avLst/>
          </a:prstGeom>
          <a:noFill/>
        </p:spPr>
        <p:txBody>
          <a:bodyPr wrap="square" rtlCol="0">
            <a:spAutoFit/>
          </a:bodyPr>
          <a:lstStyle/>
          <a:p>
            <a:pPr marL="342900" indent="-342900">
              <a:buAutoNum type="arabicPeriod"/>
            </a:pPr>
            <a:r>
              <a:rPr lang="es-CO" sz="1600" dirty="0">
                <a:latin typeface="Work Sans Light Roman" pitchFamily="2" charset="77"/>
              </a:rPr>
              <a:t>Nombre Proyecto</a:t>
            </a:r>
          </a:p>
          <a:p>
            <a:pPr marL="342900" indent="-342900">
              <a:buAutoNum type="arabicPeriod"/>
            </a:pPr>
            <a:r>
              <a:rPr lang="es-CO" sz="1600" dirty="0">
                <a:latin typeface="Work Sans Light Roman" pitchFamily="2" charset="77"/>
              </a:rPr>
              <a:t>Planteamiento del Problema.</a:t>
            </a:r>
          </a:p>
          <a:p>
            <a:pPr marL="342900" indent="-342900">
              <a:buAutoNum type="arabicPeriod"/>
            </a:pPr>
            <a:r>
              <a:rPr lang="es-CO" sz="1600" dirty="0">
                <a:latin typeface="Work Sans Light Roman" pitchFamily="2" charset="77"/>
              </a:rPr>
              <a:t>Justificación.</a:t>
            </a:r>
          </a:p>
          <a:p>
            <a:pPr marL="342900" indent="-342900">
              <a:buAutoNum type="arabicPeriod"/>
            </a:pPr>
            <a:r>
              <a:rPr lang="es-CO" sz="1600" dirty="0">
                <a:latin typeface="Work Sans Light Roman" pitchFamily="2" charset="77"/>
              </a:rPr>
              <a:t>Objetivo General.</a:t>
            </a:r>
          </a:p>
          <a:p>
            <a:pPr marL="342900" indent="-342900">
              <a:buAutoNum type="arabicPeriod"/>
            </a:pPr>
            <a:r>
              <a:rPr lang="es-CO" sz="1600" dirty="0">
                <a:latin typeface="Work Sans Light Roman" pitchFamily="2" charset="77"/>
              </a:rPr>
              <a:t>Objetivos Específicos.</a:t>
            </a:r>
          </a:p>
          <a:p>
            <a:pPr marL="342900" indent="-342900">
              <a:buAutoNum type="arabicPeriod"/>
            </a:pPr>
            <a:r>
              <a:rPr lang="es-CO" sz="1600" dirty="0">
                <a:latin typeface="Work Sans Light Roman" pitchFamily="2" charset="77"/>
              </a:rPr>
              <a:t>Antecedentes.</a:t>
            </a:r>
          </a:p>
          <a:p>
            <a:pPr marL="342900" indent="-342900">
              <a:buAutoNum type="arabicPeriod"/>
            </a:pPr>
            <a:r>
              <a:rPr lang="es-CO" sz="1600" dirty="0">
                <a:latin typeface="Work Sans Light Roman" pitchFamily="2" charset="77"/>
              </a:rPr>
              <a:t>Alcance - impacto.</a:t>
            </a:r>
          </a:p>
          <a:p>
            <a:pPr marL="342900" indent="-342900">
              <a:buAutoNum type="arabicPeriod"/>
            </a:pPr>
            <a:r>
              <a:rPr lang="es-CO" sz="1600" dirty="0">
                <a:latin typeface="Work Sans Light Roman" pitchFamily="2" charset="77"/>
              </a:rPr>
              <a:t>Viabilidad</a:t>
            </a:r>
          </a:p>
          <a:p>
            <a:pPr marL="342900" indent="-342900">
              <a:buAutoNum type="arabicPeriod"/>
            </a:pPr>
            <a:r>
              <a:rPr lang="es-CO" sz="1600" dirty="0">
                <a:latin typeface="Work Sans Light Roman" pitchFamily="2" charset="77"/>
              </a:rPr>
              <a:t>Tecnologías</a:t>
            </a:r>
          </a:p>
          <a:p>
            <a:pPr marL="342900" indent="-342900">
              <a:buAutoNum type="arabicPeriod"/>
            </a:pPr>
            <a:r>
              <a:rPr lang="es-CO" sz="1600" dirty="0">
                <a:latin typeface="Work Sans Light Roman" pitchFamily="2" charset="77"/>
              </a:rPr>
              <a:t>Innovación</a:t>
            </a:r>
          </a:p>
          <a:p>
            <a:pPr marL="342900" indent="-342900">
              <a:buAutoNum type="arabicPeriod"/>
            </a:pPr>
            <a:r>
              <a:rPr lang="es-CO" sz="1600" dirty="0">
                <a:latin typeface="Work Sans Light Roman" pitchFamily="2" charset="77"/>
              </a:rPr>
              <a:t>Metodología</a:t>
            </a:r>
          </a:p>
          <a:p>
            <a:pPr marL="342900" indent="-342900">
              <a:buAutoNum type="arabicPeriod"/>
            </a:pPr>
            <a:r>
              <a:rPr lang="es-CO" sz="1600" dirty="0">
                <a:latin typeface="Work Sans Light Roman" pitchFamily="2" charset="77"/>
              </a:rPr>
              <a:t>Referentes Bibliográficos</a:t>
            </a:r>
          </a:p>
          <a:p>
            <a:pPr marL="342900" indent="-342900">
              <a:buAutoNum type="arabicPeriod"/>
            </a:pPr>
            <a:r>
              <a:rPr lang="es-CO" sz="1600" dirty="0">
                <a:latin typeface="Work Sans Light Roman" pitchFamily="2" charset="77"/>
              </a:rPr>
              <a:t>Conclusiones</a:t>
            </a:r>
          </a:p>
        </p:txBody>
      </p:sp>
      <p:cxnSp>
        <p:nvCxnSpPr>
          <p:cNvPr id="4" name="Conector recto 3">
            <a:extLst>
              <a:ext uri="{FF2B5EF4-FFF2-40B4-BE49-F238E27FC236}">
                <a16:creationId xmlns:a16="http://schemas.microsoft.com/office/drawing/2014/main" id="{669DD18A-AB54-34AC-A662-0BDC60B050FF}"/>
              </a:ext>
            </a:extLst>
          </p:cNvPr>
          <p:cNvCxnSpPr>
            <a:cxnSpLocks/>
          </p:cNvCxnSpPr>
          <p:nvPr/>
        </p:nvCxnSpPr>
        <p:spPr>
          <a:xfrm>
            <a:off x="1074875" y="2054327"/>
            <a:ext cx="3568113" cy="0"/>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pic>
        <p:nvPicPr>
          <p:cNvPr id="7" name="Imagen 6">
            <a:extLst>
              <a:ext uri="{FF2B5EF4-FFF2-40B4-BE49-F238E27FC236}">
                <a16:creationId xmlns:a16="http://schemas.microsoft.com/office/drawing/2014/main" id="{030B0A6E-299A-A4A1-AA9A-5DE07ADF7864}"/>
              </a:ext>
            </a:extLst>
          </p:cNvPr>
          <p:cNvPicPr>
            <a:picLocks noChangeAspect="1"/>
          </p:cNvPicPr>
          <p:nvPr/>
        </p:nvPicPr>
        <p:blipFill>
          <a:blip r:embed="rId3"/>
          <a:stretch>
            <a:fillRect/>
          </a:stretch>
        </p:blipFill>
        <p:spPr>
          <a:xfrm>
            <a:off x="6096000" y="1422047"/>
            <a:ext cx="4426712" cy="4426712"/>
          </a:xfrm>
          <a:prstGeom prst="rect">
            <a:avLst/>
          </a:prstGeom>
        </p:spPr>
      </p:pic>
    </p:spTree>
    <p:extLst>
      <p:ext uri="{BB962C8B-B14F-4D97-AF65-F5344CB8AC3E}">
        <p14:creationId xmlns:p14="http://schemas.microsoft.com/office/powerpoint/2010/main" val="3038000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951D1C-ACAB-30A9-933A-FC96DF28A2F0}"/>
              </a:ext>
            </a:extLst>
          </p:cNvPr>
          <p:cNvSpPr txBox="1">
            <a:spLocks/>
          </p:cNvSpPr>
          <p:nvPr/>
        </p:nvSpPr>
        <p:spPr>
          <a:xfrm>
            <a:off x="3702794" y="0"/>
            <a:ext cx="4391568" cy="94297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419" sz="3600" b="1" dirty="0">
                <a:solidFill>
                  <a:srgbClr val="38AA00"/>
                </a:solidFill>
                <a:latin typeface="WORK SANS BOLD ROMAN" pitchFamily="2" charset="77"/>
              </a:rPr>
              <a:t>Planteamiento del problema </a:t>
            </a:r>
            <a:endParaRPr lang="es-CO" sz="3600" b="1" dirty="0">
              <a:solidFill>
                <a:srgbClr val="38AA00"/>
              </a:solidFill>
              <a:latin typeface="WORK SANS BOLD ROMAN" pitchFamily="2" charset="77"/>
            </a:endParaRPr>
          </a:p>
        </p:txBody>
      </p:sp>
      <p:sp>
        <p:nvSpPr>
          <p:cNvPr id="3" name="CuadroTexto 2">
            <a:extLst>
              <a:ext uri="{FF2B5EF4-FFF2-40B4-BE49-F238E27FC236}">
                <a16:creationId xmlns:a16="http://schemas.microsoft.com/office/drawing/2014/main" id="{CF6697F3-B1A3-FADB-1243-D89866428CB1}"/>
              </a:ext>
            </a:extLst>
          </p:cNvPr>
          <p:cNvSpPr txBox="1"/>
          <p:nvPr/>
        </p:nvSpPr>
        <p:spPr>
          <a:xfrm>
            <a:off x="2962932" y="1102578"/>
            <a:ext cx="5835179" cy="5755422"/>
          </a:xfrm>
          <a:prstGeom prst="rect">
            <a:avLst/>
          </a:prstGeom>
          <a:noFill/>
        </p:spPr>
        <p:txBody>
          <a:bodyPr wrap="square" rtlCol="0">
            <a:spAutoFit/>
          </a:bodyPr>
          <a:lstStyle/>
          <a:p>
            <a:pPr algn="ctr"/>
            <a:r>
              <a:rPr lang="es-MX" sz="1600" b="0" i="0" dirty="0">
                <a:effectLst/>
                <a:latin typeface="system-ui"/>
              </a:rPr>
              <a:t>Las academias deportivas recopilan sistemáticamente datos antropométricos de sus deportistas (altura, peso, pliegues cutáneos, perímetros corporales, pruebas físicas), pero estos se almacenan en formatos no estructurados como hojas de cálculo de Excel, sin un proceso estandarizado de análisis ni visualización.</a:t>
            </a:r>
          </a:p>
          <a:p>
            <a:pPr algn="ctr"/>
            <a:endParaRPr lang="es-419" sz="1600" b="0" i="0" dirty="0">
              <a:effectLst/>
              <a:latin typeface="system-ui"/>
            </a:endParaRPr>
          </a:p>
          <a:p>
            <a:pPr algn="ctr"/>
            <a:r>
              <a:rPr lang="es-MX" sz="1600" b="0" i="0" dirty="0">
                <a:solidFill>
                  <a:srgbClr val="38AA00"/>
                </a:solidFill>
                <a:effectLst/>
                <a:latin typeface="system-ui"/>
              </a:rPr>
              <a:t>Como consecuencia:</a:t>
            </a:r>
            <a:endParaRPr lang="es-419" sz="1600" b="0" i="0" dirty="0">
              <a:solidFill>
                <a:srgbClr val="38AA00"/>
              </a:solidFill>
              <a:effectLst/>
              <a:latin typeface="system-ui"/>
            </a:endParaRPr>
          </a:p>
          <a:p>
            <a:pPr algn="ctr"/>
            <a:endParaRPr lang="es-MX" sz="1600" b="0" i="0" dirty="0">
              <a:effectLst/>
              <a:latin typeface="system-ui"/>
            </a:endParaRPr>
          </a:p>
          <a:p>
            <a:pPr algn="ctr">
              <a:buFont typeface="Arial" panose="020B0604020202020204" pitchFamily="34" charset="0"/>
              <a:buChar char="•"/>
            </a:pPr>
            <a:r>
              <a:rPr lang="es-MX" sz="1600" b="0" i="0" dirty="0">
                <a:effectLst/>
                <a:latin typeface="system-ui"/>
              </a:rPr>
              <a:t>Los entrenadores no identifican oportunidades de mejora ni riesgos de bajo rendimiento a tiempo.</a:t>
            </a:r>
          </a:p>
          <a:p>
            <a:pPr algn="ctr">
              <a:buFont typeface="Arial" panose="020B0604020202020204" pitchFamily="34" charset="0"/>
              <a:buChar char="•"/>
            </a:pPr>
            <a:endParaRPr lang="es-419" sz="1600" b="0" i="0" dirty="0">
              <a:effectLst/>
              <a:latin typeface="system-ui"/>
            </a:endParaRPr>
          </a:p>
          <a:p>
            <a:pPr algn="ctr">
              <a:buFont typeface="Arial" panose="020B0604020202020204" pitchFamily="34" charset="0"/>
              <a:buChar char="•"/>
            </a:pPr>
            <a:r>
              <a:rPr lang="es-MX" sz="1600" b="0" i="0" dirty="0">
                <a:effectLst/>
                <a:latin typeface="system-ui"/>
              </a:rPr>
              <a:t>Los padres no reciben reportes claros y cuantificables del progreso de sus hijos.</a:t>
            </a:r>
          </a:p>
          <a:p>
            <a:pPr algn="ctr">
              <a:buFont typeface="Arial" panose="020B0604020202020204" pitchFamily="34" charset="0"/>
              <a:buChar char="•"/>
            </a:pPr>
            <a:endParaRPr lang="es-419" sz="1600" b="0" i="0" dirty="0">
              <a:effectLst/>
              <a:latin typeface="system-ui"/>
            </a:endParaRPr>
          </a:p>
          <a:p>
            <a:pPr algn="ctr">
              <a:buFont typeface="Arial" panose="020B0604020202020204" pitchFamily="34" charset="0"/>
              <a:buChar char="•"/>
            </a:pPr>
            <a:r>
              <a:rPr lang="es-MX" sz="1600" b="0" i="0" dirty="0">
                <a:effectLst/>
                <a:latin typeface="system-ui"/>
              </a:rPr>
              <a:t>Se pierden talentos con alto potencial porque no se analizan patrones de crecimiento o rendimiento.</a:t>
            </a:r>
          </a:p>
          <a:p>
            <a:pPr algn="ctr">
              <a:buFont typeface="Arial" panose="020B0604020202020204" pitchFamily="34" charset="0"/>
              <a:buChar char="•"/>
            </a:pPr>
            <a:endParaRPr lang="es-419" sz="1600" b="0" i="0" dirty="0">
              <a:effectLst/>
              <a:latin typeface="system-ui"/>
            </a:endParaRPr>
          </a:p>
          <a:p>
            <a:pPr algn="ctr">
              <a:buFont typeface="Arial" panose="020B0604020202020204" pitchFamily="34" charset="0"/>
              <a:buChar char="•"/>
            </a:pPr>
            <a:r>
              <a:rPr lang="es-MX" sz="1600" b="0" i="0" dirty="0">
                <a:effectLst/>
                <a:latin typeface="system-ui"/>
              </a:rPr>
              <a:t>La toma de decisiones se basa en la intuición, no en evidencia.</a:t>
            </a:r>
          </a:p>
          <a:p>
            <a:pPr algn="ctr"/>
            <a:endParaRPr lang="es-419" sz="1600" b="0" i="0" dirty="0">
              <a:effectLst/>
              <a:latin typeface="system-ui"/>
            </a:endParaRPr>
          </a:p>
          <a:p>
            <a:pPr algn="ctr"/>
            <a:r>
              <a:rPr lang="es-MX" sz="1600" b="0" i="0" dirty="0">
                <a:effectLst/>
                <a:latin typeface="system-ui"/>
              </a:rPr>
              <a:t>Este proyecto responde a la necesidad de transformar datos crudos en conocimiento accionable, con una solución automatizada, escalable y accesible para academias de cualquier tamaño.</a:t>
            </a:r>
          </a:p>
          <a:p>
            <a:pPr algn="ctr"/>
            <a:endParaRPr lang="es-CO" sz="1600" dirty="0">
              <a:latin typeface="Work Sans Light Roman" pitchFamily="2" charset="77"/>
            </a:endParaRPr>
          </a:p>
        </p:txBody>
      </p:sp>
      <p:cxnSp>
        <p:nvCxnSpPr>
          <p:cNvPr id="4" name="Conector recto 3">
            <a:extLst>
              <a:ext uri="{FF2B5EF4-FFF2-40B4-BE49-F238E27FC236}">
                <a16:creationId xmlns:a16="http://schemas.microsoft.com/office/drawing/2014/main" id="{669DD18A-AB54-34AC-A662-0BDC60B050FF}"/>
              </a:ext>
            </a:extLst>
          </p:cNvPr>
          <p:cNvCxnSpPr>
            <a:cxnSpLocks/>
          </p:cNvCxnSpPr>
          <p:nvPr/>
        </p:nvCxnSpPr>
        <p:spPr>
          <a:xfrm>
            <a:off x="2568088" y="1102578"/>
            <a:ext cx="6660980" cy="0"/>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pic>
        <p:nvPicPr>
          <p:cNvPr id="12" name="Imagen 11">
            <a:extLst>
              <a:ext uri="{FF2B5EF4-FFF2-40B4-BE49-F238E27FC236}">
                <a16:creationId xmlns:a16="http://schemas.microsoft.com/office/drawing/2014/main" id="{9E55BE91-5E97-2C5A-BCBF-DDE4B77EFE23}"/>
              </a:ext>
            </a:extLst>
          </p:cNvPr>
          <p:cNvPicPr>
            <a:picLocks noChangeAspect="1"/>
          </p:cNvPicPr>
          <p:nvPr/>
        </p:nvPicPr>
        <p:blipFill>
          <a:blip r:embed="rId3"/>
          <a:stretch>
            <a:fillRect/>
          </a:stretch>
        </p:blipFill>
        <p:spPr>
          <a:xfrm flipH="1">
            <a:off x="10167552" y="4833552"/>
            <a:ext cx="2024448" cy="2024448"/>
          </a:xfrm>
          <a:prstGeom prst="rect">
            <a:avLst/>
          </a:prstGeom>
        </p:spPr>
      </p:pic>
      <p:pic>
        <p:nvPicPr>
          <p:cNvPr id="15" name="Imagen 14">
            <a:extLst>
              <a:ext uri="{FF2B5EF4-FFF2-40B4-BE49-F238E27FC236}">
                <a16:creationId xmlns:a16="http://schemas.microsoft.com/office/drawing/2014/main" id="{2A63469F-FB95-2B93-6174-527529874DD9}"/>
              </a:ext>
            </a:extLst>
          </p:cNvPr>
          <p:cNvPicPr>
            <a:picLocks noChangeAspect="1"/>
          </p:cNvPicPr>
          <p:nvPr/>
        </p:nvPicPr>
        <p:blipFill>
          <a:blip r:embed="rId4"/>
          <a:stretch>
            <a:fillRect/>
          </a:stretch>
        </p:blipFill>
        <p:spPr>
          <a:xfrm>
            <a:off x="-15790" y="0"/>
            <a:ext cx="1854200" cy="1854200"/>
          </a:xfrm>
          <a:prstGeom prst="rect">
            <a:avLst/>
          </a:prstGeom>
        </p:spPr>
      </p:pic>
    </p:spTree>
    <p:extLst>
      <p:ext uri="{BB962C8B-B14F-4D97-AF65-F5344CB8AC3E}">
        <p14:creationId xmlns:p14="http://schemas.microsoft.com/office/powerpoint/2010/main" val="283297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E12FC-14BE-4E68-BC34-71A008EA06BC}"/>
              </a:ext>
            </a:extLst>
          </p:cNvPr>
          <p:cNvSpPr>
            <a:spLocks noGrp="1"/>
          </p:cNvSpPr>
          <p:nvPr>
            <p:ph type="title"/>
          </p:nvPr>
        </p:nvSpPr>
        <p:spPr>
          <a:xfrm>
            <a:off x="6064519" y="1447213"/>
            <a:ext cx="3039035" cy="969618"/>
          </a:xfrm>
        </p:spPr>
        <p:txBody>
          <a:bodyPr>
            <a:normAutofit/>
          </a:bodyPr>
          <a:lstStyle/>
          <a:p>
            <a:r>
              <a:rPr lang="es-ES" sz="3600" b="1" dirty="0">
                <a:solidFill>
                  <a:srgbClr val="38AA00"/>
                </a:solidFill>
                <a:latin typeface="Work Sans Bold Roman"/>
                <a:cs typeface="Aharoni" panose="02010803020104030203" pitchFamily="2" charset="-79"/>
              </a:rPr>
              <a:t>Justificación</a:t>
            </a:r>
            <a:endParaRPr lang="es-EC" sz="3600" b="1" dirty="0">
              <a:solidFill>
                <a:srgbClr val="38AA00"/>
              </a:solidFill>
              <a:latin typeface="Work Sans Bold Roman"/>
              <a:cs typeface="Aharoni" panose="02010803020104030203" pitchFamily="2" charset="-79"/>
            </a:endParaRPr>
          </a:p>
        </p:txBody>
      </p:sp>
      <p:cxnSp>
        <p:nvCxnSpPr>
          <p:cNvPr id="3" name="Conector recto 2">
            <a:extLst>
              <a:ext uri="{FF2B5EF4-FFF2-40B4-BE49-F238E27FC236}">
                <a16:creationId xmlns:a16="http://schemas.microsoft.com/office/drawing/2014/main" id="{3441502B-FBC0-4D6E-B4BC-89C7AD439BFC}"/>
              </a:ext>
            </a:extLst>
          </p:cNvPr>
          <p:cNvCxnSpPr>
            <a:cxnSpLocks/>
          </p:cNvCxnSpPr>
          <p:nvPr/>
        </p:nvCxnSpPr>
        <p:spPr>
          <a:xfrm>
            <a:off x="6096000" y="2266755"/>
            <a:ext cx="5723860" cy="0"/>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02AB52D8-4BAC-4598-9F4C-5D45D3EBF8CD}"/>
              </a:ext>
            </a:extLst>
          </p:cNvPr>
          <p:cNvSpPr txBox="1"/>
          <p:nvPr/>
        </p:nvSpPr>
        <p:spPr>
          <a:xfrm>
            <a:off x="6064519" y="2266755"/>
            <a:ext cx="5755341" cy="5016758"/>
          </a:xfrm>
          <a:prstGeom prst="rect">
            <a:avLst/>
          </a:prstGeom>
          <a:noFill/>
        </p:spPr>
        <p:txBody>
          <a:bodyPr wrap="square" rtlCol="0">
            <a:spAutoFit/>
          </a:bodyPr>
          <a:lstStyle/>
          <a:p>
            <a:pPr algn="l"/>
            <a:r>
              <a:rPr lang="es-MX" sz="1600" b="0" i="0" dirty="0">
                <a:effectLst/>
                <a:latin typeface="system-ui"/>
              </a:rPr>
              <a:t>El deporte formativo en Colombia está en transición: ya no basta con entrenar; se exige seguimiento, transparencia y resultados medibles.</a:t>
            </a:r>
          </a:p>
          <a:p>
            <a:pPr algn="l"/>
            <a:r>
              <a:rPr lang="es-MX" sz="1600" b="0" i="0" dirty="0">
                <a:effectLst/>
                <a:latin typeface="system-ui"/>
              </a:rPr>
              <a:t>Actualmente, las instituciones de élite (universidades, clubes profesionales) usan sistemas de inteligencia de datos para optimizar el desarrollo deportivo. Sin embargo, las academias locales carecen de herramientas asequibles y adaptadas a su realidad.</a:t>
            </a:r>
          </a:p>
          <a:p>
            <a:pPr algn="l"/>
            <a:r>
              <a:rPr lang="es-MX" sz="1600" b="0" i="0" dirty="0">
                <a:effectLst/>
                <a:latin typeface="system-ui"/>
              </a:rPr>
              <a:t>Este proyecto, desarrollado con herramientas accesibles (SSIS, SQL Server, Power BI, n8n y Python), democratiza el acceso a la ciencia del deporte, permitiendo a cualquier academia:</a:t>
            </a:r>
          </a:p>
          <a:p>
            <a:pPr algn="l">
              <a:buFont typeface="Arial" panose="020B0604020202020204" pitchFamily="34" charset="0"/>
              <a:buChar char="•"/>
            </a:pPr>
            <a:endParaRPr lang="es-419" sz="1600" b="0" i="0" dirty="0">
              <a:effectLst/>
              <a:latin typeface="system-ui"/>
            </a:endParaRPr>
          </a:p>
          <a:p>
            <a:pPr algn="l">
              <a:buFont typeface="Arial" panose="020B0604020202020204" pitchFamily="34" charset="0"/>
              <a:buChar char="•"/>
            </a:pPr>
            <a:r>
              <a:rPr lang="es-MX" sz="1600" b="0" i="0" dirty="0">
                <a:effectLst/>
                <a:latin typeface="system-ui"/>
              </a:rPr>
              <a:t>Demostrar valor con reportes profesionales.</a:t>
            </a:r>
          </a:p>
          <a:p>
            <a:pPr algn="l">
              <a:buFont typeface="Arial" panose="020B0604020202020204" pitchFamily="34" charset="0"/>
              <a:buChar char="•"/>
            </a:pPr>
            <a:r>
              <a:rPr lang="es-MX" sz="1600" b="0" i="0" dirty="0">
                <a:effectLst/>
                <a:latin typeface="system-ui"/>
              </a:rPr>
              <a:t>Retener deportistas mediante seguimiento personalizado.</a:t>
            </a:r>
          </a:p>
          <a:p>
            <a:pPr algn="l">
              <a:buFont typeface="Arial" panose="020B0604020202020204" pitchFamily="34" charset="0"/>
              <a:buChar char="•"/>
            </a:pPr>
            <a:r>
              <a:rPr lang="es-MX" sz="1600" b="0" i="0" dirty="0">
                <a:effectLst/>
                <a:latin typeface="system-ui"/>
              </a:rPr>
              <a:t>Captar talentos con potencial de crecimiento anticipado.</a:t>
            </a:r>
          </a:p>
          <a:p>
            <a:pPr algn="l"/>
            <a:r>
              <a:rPr lang="es-MX" sz="1600" b="0" i="0" dirty="0">
                <a:effectLst/>
                <a:latin typeface="system-ui"/>
              </a:rPr>
              <a:t>Además, se alinea con el enfoque del SENA de formar profesionales con competencias en análisis de datos y automatización, aplicadas a problemas reales del sector productivo.</a:t>
            </a:r>
          </a:p>
          <a:p>
            <a:br>
              <a:rPr lang="es-MX" sz="1600" dirty="0"/>
            </a:br>
            <a:endParaRPr lang="es-EC" sz="1600" dirty="0"/>
          </a:p>
        </p:txBody>
      </p:sp>
      <p:pic>
        <p:nvPicPr>
          <p:cNvPr id="9" name="Imagen 8">
            <a:extLst>
              <a:ext uri="{FF2B5EF4-FFF2-40B4-BE49-F238E27FC236}">
                <a16:creationId xmlns:a16="http://schemas.microsoft.com/office/drawing/2014/main" id="{D554A714-2242-1E7A-AD36-7DBCD7377076}"/>
              </a:ext>
            </a:extLst>
          </p:cNvPr>
          <p:cNvPicPr>
            <a:picLocks noChangeAspect="1"/>
          </p:cNvPicPr>
          <p:nvPr/>
        </p:nvPicPr>
        <p:blipFill>
          <a:blip r:embed="rId2"/>
          <a:stretch>
            <a:fillRect/>
          </a:stretch>
        </p:blipFill>
        <p:spPr>
          <a:xfrm>
            <a:off x="1553556" y="1876280"/>
            <a:ext cx="3589314" cy="4981720"/>
          </a:xfrm>
          <a:prstGeom prst="rect">
            <a:avLst/>
          </a:prstGeom>
        </p:spPr>
      </p:pic>
    </p:spTree>
    <p:extLst>
      <p:ext uri="{BB962C8B-B14F-4D97-AF65-F5344CB8AC3E}">
        <p14:creationId xmlns:p14="http://schemas.microsoft.com/office/powerpoint/2010/main" val="2464510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E12FC-14BE-4E68-BC34-71A008EA06BC}"/>
              </a:ext>
            </a:extLst>
          </p:cNvPr>
          <p:cNvSpPr>
            <a:spLocks noGrp="1"/>
          </p:cNvSpPr>
          <p:nvPr>
            <p:ph type="title"/>
          </p:nvPr>
        </p:nvSpPr>
        <p:spPr>
          <a:xfrm>
            <a:off x="462252" y="2808287"/>
            <a:ext cx="3590365" cy="1325563"/>
          </a:xfrm>
        </p:spPr>
        <p:txBody>
          <a:bodyPr>
            <a:normAutofit/>
          </a:bodyPr>
          <a:lstStyle/>
          <a:p>
            <a:r>
              <a:rPr lang="es-ES" sz="3600" b="1" dirty="0">
                <a:solidFill>
                  <a:srgbClr val="38AA00"/>
                </a:solidFill>
                <a:latin typeface="Work Sans Bold Roman"/>
                <a:cs typeface="Aharoni" panose="02010803020104030203" pitchFamily="2" charset="-79"/>
              </a:rPr>
              <a:t>Objetivo General</a:t>
            </a:r>
            <a:endParaRPr lang="es-EC" sz="3600" b="1" dirty="0">
              <a:solidFill>
                <a:srgbClr val="38AA00"/>
              </a:solidFill>
              <a:latin typeface="Work Sans Bold Roman"/>
              <a:cs typeface="Aharoni" panose="02010803020104030203" pitchFamily="2" charset="-79"/>
            </a:endParaRPr>
          </a:p>
        </p:txBody>
      </p:sp>
      <p:cxnSp>
        <p:nvCxnSpPr>
          <p:cNvPr id="3" name="Conector recto 2">
            <a:extLst>
              <a:ext uri="{FF2B5EF4-FFF2-40B4-BE49-F238E27FC236}">
                <a16:creationId xmlns:a16="http://schemas.microsoft.com/office/drawing/2014/main" id="{3441502B-FBC0-4D6E-B4BC-89C7AD439BFC}"/>
              </a:ext>
            </a:extLst>
          </p:cNvPr>
          <p:cNvCxnSpPr>
            <a:cxnSpLocks/>
          </p:cNvCxnSpPr>
          <p:nvPr/>
        </p:nvCxnSpPr>
        <p:spPr>
          <a:xfrm>
            <a:off x="462252" y="3795421"/>
            <a:ext cx="5512153" cy="28129"/>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02AB52D8-4BAC-4598-9F4C-5D45D3EBF8CD}"/>
              </a:ext>
            </a:extLst>
          </p:cNvPr>
          <p:cNvSpPr txBox="1"/>
          <p:nvPr/>
        </p:nvSpPr>
        <p:spPr>
          <a:xfrm>
            <a:off x="340659" y="3823550"/>
            <a:ext cx="5755341" cy="1323439"/>
          </a:xfrm>
          <a:prstGeom prst="rect">
            <a:avLst/>
          </a:prstGeom>
          <a:noFill/>
        </p:spPr>
        <p:txBody>
          <a:bodyPr wrap="square" rtlCol="0">
            <a:spAutoFit/>
          </a:bodyPr>
          <a:lstStyle/>
          <a:p>
            <a:pPr algn="l"/>
            <a:r>
              <a:rPr lang="es-MX" sz="1600" b="0" i="0" dirty="0">
                <a:effectLst/>
                <a:latin typeface="system-ui"/>
              </a:rPr>
              <a:t>Diseñar e implementar una solución de inteligencia de negocios que automatice la captura, transformación, análisis y visualización de datos antropométricos de deportistas, con el fin de optimizar la toma de decisiones técnicas en academias deportivas.</a:t>
            </a:r>
            <a:br>
              <a:rPr lang="es-MX" sz="1600" dirty="0"/>
            </a:br>
            <a:endParaRPr lang="es-EC" sz="1600" dirty="0"/>
          </a:p>
        </p:txBody>
      </p:sp>
      <p:pic>
        <p:nvPicPr>
          <p:cNvPr id="9" name="Imagen 8">
            <a:extLst>
              <a:ext uri="{FF2B5EF4-FFF2-40B4-BE49-F238E27FC236}">
                <a16:creationId xmlns:a16="http://schemas.microsoft.com/office/drawing/2014/main" id="{3B6499D0-6517-3750-6BEA-1F7F1FB58089}"/>
              </a:ext>
            </a:extLst>
          </p:cNvPr>
          <p:cNvPicPr>
            <a:picLocks noChangeAspect="1"/>
          </p:cNvPicPr>
          <p:nvPr/>
        </p:nvPicPr>
        <p:blipFill>
          <a:blip r:embed="rId2"/>
          <a:stretch>
            <a:fillRect/>
          </a:stretch>
        </p:blipFill>
        <p:spPr>
          <a:xfrm>
            <a:off x="7211172" y="2827798"/>
            <a:ext cx="3590365" cy="3268153"/>
          </a:xfrm>
          <a:prstGeom prst="rect">
            <a:avLst/>
          </a:prstGeom>
        </p:spPr>
      </p:pic>
    </p:spTree>
    <p:extLst>
      <p:ext uri="{BB962C8B-B14F-4D97-AF65-F5344CB8AC3E}">
        <p14:creationId xmlns:p14="http://schemas.microsoft.com/office/powerpoint/2010/main" val="4225036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E12FC-14BE-4E68-BC34-71A008EA06BC}"/>
              </a:ext>
            </a:extLst>
          </p:cNvPr>
          <p:cNvSpPr>
            <a:spLocks noGrp="1"/>
          </p:cNvSpPr>
          <p:nvPr>
            <p:ph type="title"/>
          </p:nvPr>
        </p:nvSpPr>
        <p:spPr>
          <a:xfrm>
            <a:off x="3699472" y="2459687"/>
            <a:ext cx="4195482" cy="1325563"/>
          </a:xfrm>
        </p:spPr>
        <p:txBody>
          <a:bodyPr>
            <a:normAutofit/>
          </a:bodyPr>
          <a:lstStyle/>
          <a:p>
            <a:r>
              <a:rPr lang="es-ES" sz="3600" b="1" dirty="0">
                <a:solidFill>
                  <a:srgbClr val="38AA00"/>
                </a:solidFill>
                <a:latin typeface="Work Sans Bold Roman"/>
                <a:cs typeface="Aharoni" panose="02010803020104030203" pitchFamily="2" charset="-79"/>
              </a:rPr>
              <a:t>Objetivos Específicos</a:t>
            </a:r>
            <a:endParaRPr lang="es-EC" sz="3600" b="1" dirty="0">
              <a:solidFill>
                <a:srgbClr val="38AA00"/>
              </a:solidFill>
              <a:latin typeface="Work Sans Bold Roman"/>
              <a:cs typeface="Aharoni" panose="02010803020104030203" pitchFamily="2" charset="-79"/>
            </a:endParaRPr>
          </a:p>
        </p:txBody>
      </p:sp>
      <p:cxnSp>
        <p:nvCxnSpPr>
          <p:cNvPr id="3" name="Conector recto 2">
            <a:extLst>
              <a:ext uri="{FF2B5EF4-FFF2-40B4-BE49-F238E27FC236}">
                <a16:creationId xmlns:a16="http://schemas.microsoft.com/office/drawing/2014/main" id="{3441502B-FBC0-4D6E-B4BC-89C7AD439BFC}"/>
              </a:ext>
            </a:extLst>
          </p:cNvPr>
          <p:cNvCxnSpPr>
            <a:cxnSpLocks/>
          </p:cNvCxnSpPr>
          <p:nvPr/>
        </p:nvCxnSpPr>
        <p:spPr>
          <a:xfrm>
            <a:off x="0" y="3429000"/>
            <a:ext cx="12192000" cy="26167"/>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02AB52D8-4BAC-4598-9F4C-5D45D3EBF8CD}"/>
              </a:ext>
            </a:extLst>
          </p:cNvPr>
          <p:cNvSpPr txBox="1"/>
          <p:nvPr/>
        </p:nvSpPr>
        <p:spPr>
          <a:xfrm>
            <a:off x="0" y="3869111"/>
            <a:ext cx="5755341" cy="2554545"/>
          </a:xfrm>
          <a:prstGeom prst="rect">
            <a:avLst/>
          </a:prstGeom>
          <a:noFill/>
        </p:spPr>
        <p:txBody>
          <a:bodyPr wrap="square" rtlCol="0">
            <a:spAutoFit/>
          </a:bodyPr>
          <a:lstStyle/>
          <a:p>
            <a:pPr algn="l">
              <a:buFont typeface="Arial" panose="020B0604020202020204" pitchFamily="34" charset="0"/>
              <a:buChar char="•"/>
            </a:pPr>
            <a:r>
              <a:rPr lang="es-MX" sz="1600" b="0" i="0" dirty="0">
                <a:effectLst/>
                <a:latin typeface="system-ui"/>
              </a:rPr>
              <a:t>Estructurar los datos en un modelo dimensional (estrella) en SQL Server para facilitar consultas y análisis.</a:t>
            </a:r>
            <a:endParaRPr lang="es-419" sz="1600" b="0" i="0" dirty="0">
              <a:effectLst/>
              <a:latin typeface="system-ui"/>
            </a:endParaRPr>
          </a:p>
          <a:p>
            <a:pPr algn="l">
              <a:buFont typeface="Arial" panose="020B0604020202020204" pitchFamily="34" charset="0"/>
              <a:buChar char="•"/>
            </a:pPr>
            <a:endParaRPr lang="es-MX" sz="1600" b="0" i="0" dirty="0">
              <a:effectLst/>
              <a:latin typeface="system-ui"/>
            </a:endParaRPr>
          </a:p>
          <a:p>
            <a:pPr algn="l">
              <a:buFont typeface="Arial" panose="020B0604020202020204" pitchFamily="34" charset="0"/>
              <a:buChar char="•"/>
            </a:pPr>
            <a:r>
              <a:rPr lang="es-MX" sz="1600" b="0" i="0" dirty="0">
                <a:effectLst/>
                <a:latin typeface="system-ui"/>
              </a:rPr>
              <a:t>Automatizar la ingesta desde Excel mediante SSIS en Visual Studio, garantizando calidad y consistencia de los datos.</a:t>
            </a:r>
            <a:endParaRPr lang="es-419" sz="1600" b="0" i="0" dirty="0">
              <a:effectLst/>
              <a:latin typeface="system-ui"/>
            </a:endParaRPr>
          </a:p>
          <a:p>
            <a:pPr algn="l">
              <a:buFont typeface="Arial" panose="020B0604020202020204" pitchFamily="34" charset="0"/>
              <a:buChar char="•"/>
            </a:pPr>
            <a:endParaRPr lang="es-MX" sz="1600" b="0" i="0" dirty="0">
              <a:effectLst/>
              <a:latin typeface="system-ui"/>
            </a:endParaRPr>
          </a:p>
          <a:p>
            <a:pPr algn="l">
              <a:buFont typeface="Arial" panose="020B0604020202020204" pitchFamily="34" charset="0"/>
              <a:buChar char="•"/>
            </a:pPr>
            <a:r>
              <a:rPr lang="es-MX" sz="1600" b="0" i="0" dirty="0">
                <a:effectLst/>
                <a:latin typeface="system-ui"/>
              </a:rPr>
              <a:t>Implementar un modelo predictivo en Python que estime el potencial de crecimiento (altura a los 18 años) de cada deportista.</a:t>
            </a:r>
            <a:br>
              <a:rPr lang="es-MX" sz="1600" dirty="0"/>
            </a:br>
            <a:br>
              <a:rPr lang="es-MX" sz="1600" dirty="0"/>
            </a:br>
            <a:endParaRPr lang="es-EC" sz="1600" dirty="0"/>
          </a:p>
        </p:txBody>
      </p:sp>
      <p:pic>
        <p:nvPicPr>
          <p:cNvPr id="12294" name="Picture 6" descr="Diferencias entre objetivos específicos y generales en una tesis – ININCIM  Tesis">
            <a:extLst>
              <a:ext uri="{FF2B5EF4-FFF2-40B4-BE49-F238E27FC236}">
                <a16:creationId xmlns:a16="http://schemas.microsoft.com/office/drawing/2014/main" id="{BBC1445B-D78E-4AEC-89A9-61E9386995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flipV="1">
            <a:off x="4671567" y="1567933"/>
            <a:ext cx="2251292" cy="1186124"/>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DCE3D5F9-6292-4880-9DF5-F0187B75DB3D}"/>
              </a:ext>
            </a:extLst>
          </p:cNvPr>
          <p:cNvSpPr txBox="1"/>
          <p:nvPr/>
        </p:nvSpPr>
        <p:spPr>
          <a:xfrm>
            <a:off x="5797213" y="3622889"/>
            <a:ext cx="6394787" cy="3046988"/>
          </a:xfrm>
          <a:prstGeom prst="rect">
            <a:avLst/>
          </a:prstGeom>
          <a:noFill/>
        </p:spPr>
        <p:txBody>
          <a:bodyPr wrap="square">
            <a:spAutoFit/>
          </a:bodyPr>
          <a:lstStyle/>
          <a:p>
            <a:pPr algn="l">
              <a:buFont typeface="Arial" panose="020B0604020202020204" pitchFamily="34" charset="0"/>
              <a:buChar char="•"/>
            </a:pPr>
            <a:endParaRPr lang="es-MX" sz="1600" b="0" i="0" dirty="0">
              <a:effectLst/>
              <a:latin typeface="system-ui"/>
            </a:endParaRPr>
          </a:p>
          <a:p>
            <a:pPr algn="l">
              <a:buFont typeface="Arial" panose="020B0604020202020204" pitchFamily="34" charset="0"/>
              <a:buChar char="•"/>
            </a:pPr>
            <a:r>
              <a:rPr lang="es-MX" sz="1600" b="0" i="0" dirty="0">
                <a:effectLst/>
                <a:latin typeface="system-ui"/>
              </a:rPr>
              <a:t>Visualizar indicadores clave (KPIs) en Power BI: rendimiento en salto, clasificación, progreso individual.</a:t>
            </a:r>
            <a:endParaRPr lang="es-419" sz="1600" b="0" i="0" dirty="0">
              <a:effectLst/>
              <a:latin typeface="system-ui"/>
            </a:endParaRPr>
          </a:p>
          <a:p>
            <a:pPr algn="l">
              <a:buFont typeface="Arial" panose="020B0604020202020204" pitchFamily="34" charset="0"/>
              <a:buChar char="•"/>
            </a:pPr>
            <a:endParaRPr lang="es-MX" sz="1600" b="0" i="0" dirty="0">
              <a:effectLst/>
              <a:latin typeface="system-ui"/>
            </a:endParaRPr>
          </a:p>
          <a:p>
            <a:pPr algn="l">
              <a:buFont typeface="Arial" panose="020B0604020202020204" pitchFamily="34" charset="0"/>
              <a:buChar char="•"/>
            </a:pPr>
            <a:r>
              <a:rPr lang="es-MX" sz="1600" b="0" i="0" dirty="0">
                <a:effectLst/>
                <a:latin typeface="system-ui"/>
              </a:rPr>
              <a:t>Configurar alertas automáticas mediante n8n que notifiquen por correo la detección de bajo rendimiento o alto potencial.</a:t>
            </a:r>
            <a:endParaRPr lang="es-419" sz="1600" b="0" i="0" dirty="0">
              <a:effectLst/>
              <a:latin typeface="system-ui"/>
            </a:endParaRPr>
          </a:p>
          <a:p>
            <a:pPr algn="l">
              <a:buFont typeface="Arial" panose="020B0604020202020204" pitchFamily="34" charset="0"/>
              <a:buChar char="•"/>
            </a:pPr>
            <a:endParaRPr lang="es-MX" sz="1600" b="0" i="0" dirty="0">
              <a:effectLst/>
              <a:latin typeface="system-ui"/>
            </a:endParaRPr>
          </a:p>
          <a:p>
            <a:pPr algn="l">
              <a:buFont typeface="Arial" panose="020B0604020202020204" pitchFamily="34" charset="0"/>
              <a:buChar char="•"/>
            </a:pPr>
            <a:r>
              <a:rPr lang="es-MX" sz="1600" b="0" i="0" dirty="0">
                <a:effectLst/>
                <a:latin typeface="system-ui"/>
              </a:rPr>
              <a:t>Generar reportes semanales automatizados para entrega a entrenadores y padres de familia.</a:t>
            </a:r>
          </a:p>
          <a:p>
            <a:br>
              <a:rPr lang="es-MX" sz="1600" dirty="0"/>
            </a:br>
            <a:br>
              <a:rPr lang="es-MX" sz="1600" dirty="0"/>
            </a:br>
            <a:endParaRPr lang="es-EC" sz="1600" dirty="0"/>
          </a:p>
        </p:txBody>
      </p:sp>
    </p:spTree>
    <p:extLst>
      <p:ext uri="{BB962C8B-B14F-4D97-AF65-F5344CB8AC3E}">
        <p14:creationId xmlns:p14="http://schemas.microsoft.com/office/powerpoint/2010/main" val="542592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E12FC-14BE-4E68-BC34-71A008EA06BC}"/>
              </a:ext>
            </a:extLst>
          </p:cNvPr>
          <p:cNvSpPr>
            <a:spLocks noGrp="1"/>
          </p:cNvSpPr>
          <p:nvPr>
            <p:ph type="title"/>
          </p:nvPr>
        </p:nvSpPr>
        <p:spPr>
          <a:xfrm>
            <a:off x="0" y="2116886"/>
            <a:ext cx="4195482" cy="2246717"/>
          </a:xfrm>
        </p:spPr>
        <p:txBody>
          <a:bodyPr>
            <a:normAutofit/>
          </a:bodyPr>
          <a:lstStyle/>
          <a:p>
            <a:r>
              <a:rPr lang="es-ES" sz="3600" b="1" dirty="0">
                <a:solidFill>
                  <a:srgbClr val="38AA00"/>
                </a:solidFill>
                <a:latin typeface="Work Sans Bold Roman"/>
                <a:cs typeface="Aharoni" panose="02010803020104030203" pitchFamily="2" charset="-79"/>
              </a:rPr>
              <a:t>Antecedentes</a:t>
            </a:r>
            <a:endParaRPr lang="es-EC" sz="3600" b="1" dirty="0">
              <a:solidFill>
                <a:srgbClr val="38AA00"/>
              </a:solidFill>
              <a:latin typeface="Work Sans Bold Roman"/>
              <a:cs typeface="Aharoni" panose="02010803020104030203" pitchFamily="2" charset="-79"/>
            </a:endParaRPr>
          </a:p>
        </p:txBody>
      </p:sp>
      <p:cxnSp>
        <p:nvCxnSpPr>
          <p:cNvPr id="3" name="Conector recto 2">
            <a:extLst>
              <a:ext uri="{FF2B5EF4-FFF2-40B4-BE49-F238E27FC236}">
                <a16:creationId xmlns:a16="http://schemas.microsoft.com/office/drawing/2014/main" id="{3441502B-FBC0-4D6E-B4BC-89C7AD439BFC}"/>
              </a:ext>
            </a:extLst>
          </p:cNvPr>
          <p:cNvCxnSpPr>
            <a:cxnSpLocks/>
          </p:cNvCxnSpPr>
          <p:nvPr/>
        </p:nvCxnSpPr>
        <p:spPr>
          <a:xfrm>
            <a:off x="53788" y="3429000"/>
            <a:ext cx="5590656" cy="0"/>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02AB52D8-4BAC-4598-9F4C-5D45D3EBF8CD}"/>
              </a:ext>
            </a:extLst>
          </p:cNvPr>
          <p:cNvSpPr txBox="1"/>
          <p:nvPr/>
        </p:nvSpPr>
        <p:spPr>
          <a:xfrm>
            <a:off x="53788" y="3617755"/>
            <a:ext cx="5755341" cy="3785652"/>
          </a:xfrm>
          <a:prstGeom prst="rect">
            <a:avLst/>
          </a:prstGeom>
          <a:noFill/>
        </p:spPr>
        <p:txBody>
          <a:bodyPr wrap="square" rtlCol="0">
            <a:spAutoFit/>
          </a:bodyPr>
          <a:lstStyle/>
          <a:p>
            <a:pPr algn="l">
              <a:buFont typeface="Arial" panose="020B0604020202020204" pitchFamily="34" charset="0"/>
              <a:buChar char="•"/>
            </a:pPr>
            <a:r>
              <a:rPr lang="es-MX" sz="1600" b="0" i="0" dirty="0">
                <a:effectLst/>
                <a:latin typeface="system-ui"/>
              </a:rPr>
              <a:t>SENA – Programa de Análisis de Datos: Formación en ETL, SQL, Power BI y automatización, aplicada a casos reales.</a:t>
            </a:r>
            <a:endParaRPr lang="es-419" sz="1600" b="0" i="0" dirty="0">
              <a:effectLst/>
              <a:latin typeface="system-ui"/>
            </a:endParaRPr>
          </a:p>
          <a:p>
            <a:pPr algn="l">
              <a:buFont typeface="Arial" panose="020B0604020202020204" pitchFamily="34" charset="0"/>
              <a:buChar char="•"/>
            </a:pPr>
            <a:endParaRPr lang="es-MX" sz="1600" b="0" i="0" dirty="0">
              <a:effectLst/>
              <a:latin typeface="system-ui"/>
            </a:endParaRPr>
          </a:p>
          <a:p>
            <a:pPr algn="l">
              <a:buFont typeface="Arial" panose="020B0604020202020204" pitchFamily="34" charset="0"/>
              <a:buChar char="•"/>
            </a:pPr>
            <a:r>
              <a:rPr lang="es-MX" sz="1600" b="0" i="0" dirty="0">
                <a:effectLst/>
                <a:latin typeface="system-ui"/>
              </a:rPr>
              <a:t>Academia Alemana (Cali): Proveedora de los datos reales del proyecto (37 deportistas masculinos, 14–17 años).</a:t>
            </a:r>
            <a:endParaRPr lang="es-419" sz="1600" b="0" i="0" dirty="0">
              <a:effectLst/>
              <a:latin typeface="system-ui"/>
            </a:endParaRPr>
          </a:p>
          <a:p>
            <a:pPr algn="l">
              <a:buFont typeface="Arial" panose="020B0604020202020204" pitchFamily="34" charset="0"/>
              <a:buChar char="•"/>
            </a:pPr>
            <a:endParaRPr lang="es-MX" sz="1600" b="0" i="0" dirty="0">
              <a:effectLst/>
              <a:latin typeface="system-ui"/>
            </a:endParaRPr>
          </a:p>
          <a:p>
            <a:pPr algn="l">
              <a:buFont typeface="Arial" panose="020B0604020202020204" pitchFamily="34" charset="0"/>
              <a:buChar char="•"/>
            </a:pPr>
            <a:r>
              <a:rPr lang="es-MX" sz="1600" b="0" i="0" dirty="0">
                <a:effectLst/>
                <a:latin typeface="system-ui"/>
              </a:rPr>
              <a:t>Herramientas </a:t>
            </a:r>
            <a:r>
              <a:rPr lang="es-MX" sz="1600" b="0" i="0" dirty="0" err="1">
                <a:effectLst/>
                <a:latin typeface="system-ui"/>
              </a:rPr>
              <a:t>low-code</a:t>
            </a:r>
            <a:r>
              <a:rPr lang="es-MX" sz="1600" b="0" i="0" dirty="0">
                <a:effectLst/>
                <a:latin typeface="system-ui"/>
              </a:rPr>
              <a:t>: Adopción creciente de plataformas como n8n para automatización sin programación compleja.</a:t>
            </a:r>
            <a:endParaRPr lang="es-419" sz="1600" b="0" i="0" dirty="0">
              <a:effectLst/>
              <a:latin typeface="system-ui"/>
            </a:endParaRPr>
          </a:p>
          <a:p>
            <a:pPr algn="l">
              <a:buFont typeface="Arial" panose="020B0604020202020204" pitchFamily="34" charset="0"/>
              <a:buChar char="•"/>
            </a:pPr>
            <a:endParaRPr lang="es-MX" sz="1600" b="0" i="0" dirty="0">
              <a:effectLst/>
              <a:latin typeface="system-ui"/>
            </a:endParaRPr>
          </a:p>
          <a:p>
            <a:pPr algn="l">
              <a:buFont typeface="Arial" panose="020B0604020202020204" pitchFamily="34" charset="0"/>
              <a:buChar char="•"/>
            </a:pPr>
            <a:r>
              <a:rPr lang="es-MX" sz="1600" b="0" i="0" dirty="0">
                <a:effectLst/>
                <a:latin typeface="system-ui"/>
              </a:rPr>
              <a:t>Tendencia global: Uso de datos antropométricos en la selección de talentos en deportes como baloncesto, voleibol y atletismo.</a:t>
            </a:r>
          </a:p>
          <a:p>
            <a:br>
              <a:rPr lang="es-MX" sz="1600" dirty="0"/>
            </a:br>
            <a:br>
              <a:rPr lang="es-MX" sz="1600" dirty="0"/>
            </a:br>
            <a:br>
              <a:rPr lang="es-MX" sz="1600" dirty="0"/>
            </a:br>
            <a:endParaRPr lang="es-EC" sz="1600" dirty="0"/>
          </a:p>
        </p:txBody>
      </p:sp>
      <p:pic>
        <p:nvPicPr>
          <p:cNvPr id="9" name="Imagen 8">
            <a:extLst>
              <a:ext uri="{FF2B5EF4-FFF2-40B4-BE49-F238E27FC236}">
                <a16:creationId xmlns:a16="http://schemas.microsoft.com/office/drawing/2014/main" id="{12990CD4-A5FC-499D-CEA2-BD112217F87B}"/>
              </a:ext>
            </a:extLst>
          </p:cNvPr>
          <p:cNvPicPr>
            <a:picLocks noChangeAspect="1"/>
          </p:cNvPicPr>
          <p:nvPr/>
        </p:nvPicPr>
        <p:blipFill>
          <a:blip r:embed="rId2"/>
          <a:stretch>
            <a:fillRect/>
          </a:stretch>
        </p:blipFill>
        <p:spPr>
          <a:xfrm>
            <a:off x="6937193" y="1575170"/>
            <a:ext cx="4195482" cy="5065656"/>
          </a:xfrm>
          <a:prstGeom prst="rect">
            <a:avLst/>
          </a:prstGeom>
        </p:spPr>
      </p:pic>
    </p:spTree>
    <p:extLst>
      <p:ext uri="{BB962C8B-B14F-4D97-AF65-F5344CB8AC3E}">
        <p14:creationId xmlns:p14="http://schemas.microsoft.com/office/powerpoint/2010/main" val="1649671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E12FC-14BE-4E68-BC34-71A008EA06BC}"/>
              </a:ext>
            </a:extLst>
          </p:cNvPr>
          <p:cNvSpPr>
            <a:spLocks noGrp="1"/>
          </p:cNvSpPr>
          <p:nvPr>
            <p:ph type="title"/>
          </p:nvPr>
        </p:nvSpPr>
        <p:spPr>
          <a:xfrm>
            <a:off x="429825" y="1682732"/>
            <a:ext cx="4195482" cy="572528"/>
          </a:xfrm>
        </p:spPr>
        <p:txBody>
          <a:bodyPr>
            <a:normAutofit fontScale="90000"/>
          </a:bodyPr>
          <a:lstStyle/>
          <a:p>
            <a:r>
              <a:rPr lang="es-ES" sz="3600" b="1" dirty="0">
                <a:solidFill>
                  <a:srgbClr val="38AA00"/>
                </a:solidFill>
                <a:latin typeface="Work Sans Bold Roman"/>
                <a:cs typeface="Aharoni" panose="02010803020104030203" pitchFamily="2" charset="-79"/>
              </a:rPr>
              <a:t>Alcance</a:t>
            </a:r>
            <a:r>
              <a:rPr lang="es-419" sz="3600" b="1" dirty="0">
                <a:solidFill>
                  <a:srgbClr val="38AA00"/>
                </a:solidFill>
                <a:latin typeface="Work Sans Bold Roman"/>
                <a:cs typeface="Aharoni" panose="02010803020104030203" pitchFamily="2" charset="-79"/>
              </a:rPr>
              <a:t> - Impacto</a:t>
            </a:r>
            <a:endParaRPr lang="es-EC" sz="3600" b="1" dirty="0">
              <a:solidFill>
                <a:srgbClr val="38AA00"/>
              </a:solidFill>
              <a:latin typeface="Work Sans Bold Roman"/>
              <a:cs typeface="Aharoni" panose="02010803020104030203" pitchFamily="2" charset="-79"/>
            </a:endParaRPr>
          </a:p>
        </p:txBody>
      </p:sp>
      <p:cxnSp>
        <p:nvCxnSpPr>
          <p:cNvPr id="3" name="Conector recto 2">
            <a:extLst>
              <a:ext uri="{FF2B5EF4-FFF2-40B4-BE49-F238E27FC236}">
                <a16:creationId xmlns:a16="http://schemas.microsoft.com/office/drawing/2014/main" id="{3441502B-FBC0-4D6E-B4BC-89C7AD439BFC}"/>
              </a:ext>
            </a:extLst>
          </p:cNvPr>
          <p:cNvCxnSpPr>
            <a:cxnSpLocks/>
          </p:cNvCxnSpPr>
          <p:nvPr/>
        </p:nvCxnSpPr>
        <p:spPr>
          <a:xfrm>
            <a:off x="429825" y="2430118"/>
            <a:ext cx="6114410" cy="0"/>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02AB52D8-4BAC-4598-9F4C-5D45D3EBF8CD}"/>
              </a:ext>
            </a:extLst>
          </p:cNvPr>
          <p:cNvSpPr txBox="1"/>
          <p:nvPr/>
        </p:nvSpPr>
        <p:spPr>
          <a:xfrm>
            <a:off x="899996" y="2504999"/>
            <a:ext cx="5755341" cy="5509200"/>
          </a:xfrm>
          <a:prstGeom prst="rect">
            <a:avLst/>
          </a:prstGeom>
          <a:noFill/>
        </p:spPr>
        <p:txBody>
          <a:bodyPr wrap="square" rtlCol="0">
            <a:spAutoFit/>
          </a:bodyPr>
          <a:lstStyle/>
          <a:p>
            <a:pPr algn="l">
              <a:buFont typeface="Arial" panose="020B0604020202020204" pitchFamily="34" charset="0"/>
              <a:buChar char="•"/>
            </a:pPr>
            <a:r>
              <a:rPr lang="es-MX" b="1" i="0" dirty="0">
                <a:effectLst/>
                <a:latin typeface="system-ui"/>
              </a:rPr>
              <a:t>Alcance técnico:</a:t>
            </a:r>
          </a:p>
          <a:p>
            <a:pPr marL="742950" lvl="1" indent="-285750" algn="l">
              <a:buFont typeface="Arial" panose="020B0604020202020204" pitchFamily="34" charset="0"/>
              <a:buChar char="•"/>
            </a:pPr>
            <a:r>
              <a:rPr lang="es-MX" b="0" i="0" dirty="0">
                <a:effectLst/>
                <a:latin typeface="system-ui"/>
              </a:rPr>
              <a:t>10 tablas relacionadas (modelo estrella).</a:t>
            </a:r>
          </a:p>
          <a:p>
            <a:pPr marL="742950" lvl="1" indent="-285750" algn="l">
              <a:buFont typeface="Arial" panose="020B0604020202020204" pitchFamily="34" charset="0"/>
              <a:buChar char="•"/>
            </a:pPr>
            <a:r>
              <a:rPr lang="es-MX" b="0" i="0" dirty="0">
                <a:effectLst/>
                <a:latin typeface="system-ui"/>
              </a:rPr>
              <a:t>4 tipos de métricas: morfológicas, de rendimiento, clasificación, predicción.</a:t>
            </a:r>
          </a:p>
          <a:p>
            <a:pPr marL="742950" lvl="1" indent="-285750" algn="l">
              <a:buFont typeface="Arial" panose="020B0604020202020204" pitchFamily="34" charset="0"/>
              <a:buChar char="•"/>
            </a:pPr>
            <a:r>
              <a:rPr lang="es-MX" b="0" i="0" dirty="0">
                <a:effectLst/>
                <a:latin typeface="system-ui"/>
              </a:rPr>
              <a:t>Integración de 4 tecnologías (SSIS, SQL Server, Power BI, n8n, Python).</a:t>
            </a:r>
          </a:p>
          <a:p>
            <a:pPr algn="l">
              <a:buFont typeface="Arial" panose="020B0604020202020204" pitchFamily="34" charset="0"/>
              <a:buChar char="•"/>
            </a:pPr>
            <a:r>
              <a:rPr lang="es-MX" b="1" i="0" dirty="0">
                <a:effectLst/>
                <a:latin typeface="system-ui"/>
              </a:rPr>
              <a:t>Impacto comercial:</a:t>
            </a:r>
          </a:p>
          <a:p>
            <a:pPr marL="742950" lvl="1" indent="-285750" algn="l">
              <a:buFont typeface="Arial" panose="020B0604020202020204" pitchFamily="34" charset="0"/>
              <a:buChar char="•"/>
            </a:pPr>
            <a:r>
              <a:rPr lang="es-MX" b="1" i="0" dirty="0">
                <a:effectLst/>
                <a:latin typeface="system-ui"/>
              </a:rPr>
              <a:t>Retención: </a:t>
            </a:r>
            <a:r>
              <a:rPr lang="es-MX" b="0" i="0" dirty="0">
                <a:effectLst/>
                <a:latin typeface="system-ui"/>
              </a:rPr>
              <a:t>Padres confían más cuando ven progreso cuantificado.</a:t>
            </a:r>
          </a:p>
          <a:p>
            <a:pPr marL="742950" lvl="1" indent="-285750" algn="l">
              <a:buFont typeface="Arial" panose="020B0604020202020204" pitchFamily="34" charset="0"/>
              <a:buChar char="•"/>
            </a:pPr>
            <a:r>
              <a:rPr lang="es-MX" b="1" i="0" dirty="0">
                <a:effectLst/>
                <a:latin typeface="system-ui"/>
              </a:rPr>
              <a:t>Captación: </a:t>
            </a:r>
            <a:r>
              <a:rPr lang="es-MX" b="0" i="0" dirty="0">
                <a:effectLst/>
                <a:latin typeface="system-ui"/>
              </a:rPr>
              <a:t>Academia se diferencia al ofrecer análisis científico.</a:t>
            </a:r>
          </a:p>
          <a:p>
            <a:pPr marL="742950" lvl="1" indent="-285750" algn="l">
              <a:buFont typeface="Arial" panose="020B0604020202020204" pitchFamily="34" charset="0"/>
              <a:buChar char="•"/>
            </a:pPr>
            <a:r>
              <a:rPr lang="es-MX" b="1" i="0" dirty="0">
                <a:effectLst/>
                <a:latin typeface="system-ui"/>
              </a:rPr>
              <a:t>Eficiencia: </a:t>
            </a:r>
            <a:r>
              <a:rPr lang="es-MX" b="0" i="0" dirty="0">
                <a:effectLst/>
                <a:latin typeface="system-ui"/>
              </a:rPr>
              <a:t>Reducción del 90% del tiempo en generación manual de reportes.</a:t>
            </a:r>
          </a:p>
          <a:p>
            <a:pPr marL="742950" lvl="1" indent="-285750" algn="l">
              <a:buFont typeface="Arial" panose="020B0604020202020204" pitchFamily="34" charset="0"/>
              <a:buChar char="•"/>
            </a:pPr>
            <a:r>
              <a:rPr lang="es-MX" b="1" i="0" dirty="0">
                <a:effectLst/>
                <a:latin typeface="system-ui"/>
              </a:rPr>
              <a:t>Escalabilidad: </a:t>
            </a:r>
            <a:r>
              <a:rPr lang="es-MX" b="0" i="0" dirty="0">
                <a:effectLst/>
                <a:latin typeface="system-ui"/>
              </a:rPr>
              <a:t>Solución replicable en otras academias con mínima adaptación.</a:t>
            </a:r>
          </a:p>
          <a:p>
            <a:br>
              <a:rPr lang="es-MX" dirty="0"/>
            </a:br>
            <a:br>
              <a:rPr lang="es-MX" sz="1600" dirty="0"/>
            </a:br>
            <a:br>
              <a:rPr lang="es-MX" sz="1600" dirty="0"/>
            </a:br>
            <a:br>
              <a:rPr lang="es-MX" sz="1600" dirty="0"/>
            </a:br>
            <a:endParaRPr lang="es-EC" sz="1600" dirty="0"/>
          </a:p>
        </p:txBody>
      </p:sp>
      <p:pic>
        <p:nvPicPr>
          <p:cNvPr id="10" name="Imagen 9">
            <a:extLst>
              <a:ext uri="{FF2B5EF4-FFF2-40B4-BE49-F238E27FC236}">
                <a16:creationId xmlns:a16="http://schemas.microsoft.com/office/drawing/2014/main" id="{7AEE5FF7-5E86-7CAD-8C30-5C7246741AE1}"/>
              </a:ext>
            </a:extLst>
          </p:cNvPr>
          <p:cNvPicPr>
            <a:picLocks noChangeAspect="1"/>
          </p:cNvPicPr>
          <p:nvPr/>
        </p:nvPicPr>
        <p:blipFill>
          <a:blip r:embed="rId2"/>
          <a:stretch>
            <a:fillRect/>
          </a:stretch>
        </p:blipFill>
        <p:spPr>
          <a:xfrm>
            <a:off x="6942969" y="1682732"/>
            <a:ext cx="4066514" cy="4942821"/>
          </a:xfrm>
          <a:prstGeom prst="rect">
            <a:avLst/>
          </a:prstGeom>
        </p:spPr>
      </p:pic>
    </p:spTree>
    <p:extLst>
      <p:ext uri="{BB962C8B-B14F-4D97-AF65-F5344CB8AC3E}">
        <p14:creationId xmlns:p14="http://schemas.microsoft.com/office/powerpoint/2010/main" val="3937120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E12FC-14BE-4E68-BC34-71A008EA06BC}"/>
              </a:ext>
            </a:extLst>
          </p:cNvPr>
          <p:cNvSpPr>
            <a:spLocks noGrp="1"/>
          </p:cNvSpPr>
          <p:nvPr>
            <p:ph type="title"/>
          </p:nvPr>
        </p:nvSpPr>
        <p:spPr>
          <a:xfrm>
            <a:off x="4294940" y="2282933"/>
            <a:ext cx="4195482" cy="572528"/>
          </a:xfrm>
        </p:spPr>
        <p:txBody>
          <a:bodyPr>
            <a:normAutofit fontScale="90000"/>
          </a:bodyPr>
          <a:lstStyle/>
          <a:p>
            <a:pPr algn="ctr"/>
            <a:r>
              <a:rPr lang="es-ES" sz="3600" b="1" dirty="0">
                <a:solidFill>
                  <a:srgbClr val="38AA00"/>
                </a:solidFill>
                <a:latin typeface="Work Sans Bold Roman"/>
                <a:cs typeface="Aharoni" panose="02010803020104030203" pitchFamily="2" charset="-79"/>
              </a:rPr>
              <a:t>Viabilidad</a:t>
            </a:r>
            <a:endParaRPr lang="es-EC" sz="3600" b="1" dirty="0">
              <a:solidFill>
                <a:srgbClr val="38AA00"/>
              </a:solidFill>
              <a:latin typeface="Work Sans Bold Roman"/>
              <a:cs typeface="Aharoni" panose="02010803020104030203" pitchFamily="2" charset="-79"/>
            </a:endParaRPr>
          </a:p>
        </p:txBody>
      </p:sp>
      <p:cxnSp>
        <p:nvCxnSpPr>
          <p:cNvPr id="3" name="Conector recto 2">
            <a:extLst>
              <a:ext uri="{FF2B5EF4-FFF2-40B4-BE49-F238E27FC236}">
                <a16:creationId xmlns:a16="http://schemas.microsoft.com/office/drawing/2014/main" id="{3441502B-FBC0-4D6E-B4BC-89C7AD439BFC}"/>
              </a:ext>
            </a:extLst>
          </p:cNvPr>
          <p:cNvCxnSpPr>
            <a:cxnSpLocks/>
          </p:cNvCxnSpPr>
          <p:nvPr/>
        </p:nvCxnSpPr>
        <p:spPr>
          <a:xfrm>
            <a:off x="3594908" y="2931090"/>
            <a:ext cx="5595545" cy="0"/>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02AB52D8-4BAC-4598-9F4C-5D45D3EBF8CD}"/>
              </a:ext>
            </a:extLst>
          </p:cNvPr>
          <p:cNvSpPr txBox="1"/>
          <p:nvPr/>
        </p:nvSpPr>
        <p:spPr>
          <a:xfrm>
            <a:off x="3515009" y="3234254"/>
            <a:ext cx="5755341" cy="4955203"/>
          </a:xfrm>
          <a:prstGeom prst="rect">
            <a:avLst/>
          </a:prstGeom>
          <a:noFill/>
        </p:spPr>
        <p:txBody>
          <a:bodyPr wrap="square" rtlCol="0">
            <a:spAutoFit/>
          </a:bodyPr>
          <a:lstStyle/>
          <a:p>
            <a:pPr algn="ctr">
              <a:buFont typeface="Arial" panose="020B0604020202020204" pitchFamily="34" charset="0"/>
              <a:buChar char="•"/>
            </a:pPr>
            <a:r>
              <a:rPr lang="es-MX" b="1" i="0" dirty="0">
                <a:effectLst/>
                <a:latin typeface="system-ui"/>
              </a:rPr>
              <a:t>Técnica: </a:t>
            </a:r>
            <a:r>
              <a:rPr lang="es-MX" b="0" i="0" dirty="0">
                <a:effectLst/>
                <a:latin typeface="system-ui"/>
              </a:rPr>
              <a:t>Usando herramientas gratuitas (SQL Server Express, Power BI Desktop, n8n, Google </a:t>
            </a:r>
            <a:r>
              <a:rPr lang="es-MX" b="0" i="0" dirty="0" err="1">
                <a:effectLst/>
                <a:latin typeface="system-ui"/>
              </a:rPr>
              <a:t>Colab</a:t>
            </a:r>
            <a:r>
              <a:rPr lang="es-MX" b="0" i="0" dirty="0">
                <a:effectLst/>
                <a:latin typeface="system-ui"/>
              </a:rPr>
              <a:t>) y código abierto (Python).</a:t>
            </a:r>
            <a:endParaRPr lang="es-419" b="0" i="0" dirty="0">
              <a:effectLst/>
              <a:latin typeface="system-ui"/>
            </a:endParaRPr>
          </a:p>
          <a:p>
            <a:pPr algn="ctr">
              <a:buFont typeface="Arial" panose="020B0604020202020204" pitchFamily="34" charset="0"/>
              <a:buChar char="•"/>
            </a:pPr>
            <a:endParaRPr lang="es-MX" b="0" i="0" dirty="0">
              <a:effectLst/>
              <a:latin typeface="system-ui"/>
            </a:endParaRPr>
          </a:p>
          <a:p>
            <a:pPr algn="ctr">
              <a:buFont typeface="Arial" panose="020B0604020202020204" pitchFamily="34" charset="0"/>
              <a:buChar char="•"/>
            </a:pPr>
            <a:r>
              <a:rPr lang="es-MX" b="1" i="0" dirty="0">
                <a:effectLst/>
                <a:latin typeface="system-ui"/>
              </a:rPr>
              <a:t>Económica:</a:t>
            </a:r>
            <a:r>
              <a:rPr lang="es-MX" b="0" i="0" dirty="0">
                <a:effectLst/>
                <a:latin typeface="system-ui"/>
              </a:rPr>
              <a:t> Inversión mínima (solo tiempo de desarrollo; sin licencias costosas).</a:t>
            </a:r>
            <a:endParaRPr lang="es-419" b="0" i="0" dirty="0">
              <a:effectLst/>
              <a:latin typeface="system-ui"/>
            </a:endParaRPr>
          </a:p>
          <a:p>
            <a:pPr algn="ctr">
              <a:buFont typeface="Arial" panose="020B0604020202020204" pitchFamily="34" charset="0"/>
              <a:buChar char="•"/>
            </a:pPr>
            <a:endParaRPr lang="es-MX" b="0" i="0" dirty="0">
              <a:effectLst/>
              <a:latin typeface="system-ui"/>
            </a:endParaRPr>
          </a:p>
          <a:p>
            <a:pPr algn="ctr">
              <a:buFont typeface="Arial" panose="020B0604020202020204" pitchFamily="34" charset="0"/>
              <a:buChar char="•"/>
            </a:pPr>
            <a:r>
              <a:rPr lang="es-MX" b="1" i="0" dirty="0">
                <a:effectLst/>
                <a:latin typeface="system-ui"/>
              </a:rPr>
              <a:t>Operativa: </a:t>
            </a:r>
            <a:r>
              <a:rPr lang="es-MX" b="0" i="0" dirty="0">
                <a:effectLst/>
                <a:latin typeface="system-ui"/>
              </a:rPr>
              <a:t>Entrenadores no necesitan conocimientos técnicos; todo es automático.</a:t>
            </a:r>
            <a:endParaRPr lang="es-419" b="0" i="0" dirty="0">
              <a:effectLst/>
              <a:latin typeface="system-ui"/>
            </a:endParaRPr>
          </a:p>
          <a:p>
            <a:pPr algn="ctr">
              <a:buFont typeface="Arial" panose="020B0604020202020204" pitchFamily="34" charset="0"/>
              <a:buChar char="•"/>
            </a:pPr>
            <a:endParaRPr lang="es-MX" b="0" i="0" dirty="0">
              <a:effectLst/>
              <a:latin typeface="system-ui"/>
            </a:endParaRPr>
          </a:p>
          <a:p>
            <a:pPr algn="ctr">
              <a:buFont typeface="Arial" panose="020B0604020202020204" pitchFamily="34" charset="0"/>
              <a:buChar char="•"/>
            </a:pPr>
            <a:r>
              <a:rPr lang="es-MX" b="1" i="0" dirty="0">
                <a:effectLst/>
                <a:latin typeface="system-ui"/>
              </a:rPr>
              <a:t>Temporal: </a:t>
            </a:r>
            <a:r>
              <a:rPr lang="es-MX" b="0" i="0" dirty="0">
                <a:effectLst/>
                <a:latin typeface="system-ui"/>
              </a:rPr>
              <a:t>Implementación completa en menos de 5 días hábiles.</a:t>
            </a:r>
          </a:p>
          <a:p>
            <a:pPr algn="ctr"/>
            <a:br>
              <a:rPr lang="es-MX" dirty="0"/>
            </a:br>
            <a:br>
              <a:rPr lang="es-MX" dirty="0"/>
            </a:br>
            <a:br>
              <a:rPr lang="es-MX" sz="1600" dirty="0"/>
            </a:br>
            <a:br>
              <a:rPr lang="es-MX" sz="1600" dirty="0"/>
            </a:br>
            <a:br>
              <a:rPr lang="es-MX" sz="1600" dirty="0"/>
            </a:br>
            <a:endParaRPr lang="es-EC" sz="1600" dirty="0"/>
          </a:p>
        </p:txBody>
      </p:sp>
      <p:pic>
        <p:nvPicPr>
          <p:cNvPr id="7170" name="Picture 2" descr="360+ Antropometría Fotografías de stock, fotos e imágenes ...">
            <a:extLst>
              <a:ext uri="{FF2B5EF4-FFF2-40B4-BE49-F238E27FC236}">
                <a16:creationId xmlns:a16="http://schemas.microsoft.com/office/drawing/2014/main" id="{E9142562-C353-4248-979B-2D8E795664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58" y="1845966"/>
            <a:ext cx="2897089" cy="2170248"/>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B2147BDC-D8EE-DDD8-4F8B-1FCDD7BEC19E}"/>
              </a:ext>
            </a:extLst>
          </p:cNvPr>
          <p:cNvPicPr>
            <a:picLocks noChangeAspect="1"/>
          </p:cNvPicPr>
          <p:nvPr/>
        </p:nvPicPr>
        <p:blipFill>
          <a:blip r:embed="rId3"/>
          <a:stretch>
            <a:fillRect/>
          </a:stretch>
        </p:blipFill>
        <p:spPr>
          <a:xfrm>
            <a:off x="10035617" y="4784755"/>
            <a:ext cx="1854200" cy="1854200"/>
          </a:xfrm>
          <a:prstGeom prst="rect">
            <a:avLst/>
          </a:prstGeom>
        </p:spPr>
      </p:pic>
    </p:spTree>
    <p:extLst>
      <p:ext uri="{BB962C8B-B14F-4D97-AF65-F5344CB8AC3E}">
        <p14:creationId xmlns:p14="http://schemas.microsoft.com/office/powerpoint/2010/main" val="18167534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E12FC-14BE-4E68-BC34-71A008EA06BC}"/>
              </a:ext>
            </a:extLst>
          </p:cNvPr>
          <p:cNvSpPr>
            <a:spLocks noGrp="1"/>
          </p:cNvSpPr>
          <p:nvPr>
            <p:ph type="title"/>
          </p:nvPr>
        </p:nvSpPr>
        <p:spPr>
          <a:xfrm>
            <a:off x="6096000" y="1400989"/>
            <a:ext cx="4195482" cy="1085572"/>
          </a:xfrm>
        </p:spPr>
        <p:txBody>
          <a:bodyPr>
            <a:normAutofit/>
          </a:bodyPr>
          <a:lstStyle/>
          <a:p>
            <a:r>
              <a:rPr lang="es-EC" sz="4200" b="1" dirty="0">
                <a:solidFill>
                  <a:srgbClr val="38AA00"/>
                </a:solidFill>
                <a:latin typeface="Work Sans Bold Roman"/>
                <a:cs typeface="Aharoni" panose="02010803020104030203" pitchFamily="2" charset="-79"/>
              </a:rPr>
              <a:t>T</a:t>
            </a:r>
            <a:r>
              <a:rPr lang="es-EC" sz="4200" b="1" i="0" dirty="0">
                <a:solidFill>
                  <a:srgbClr val="38AA00"/>
                </a:solidFill>
                <a:effectLst/>
                <a:latin typeface="Work Sans Bold Roman"/>
              </a:rPr>
              <a:t>ecnologías</a:t>
            </a:r>
            <a:endParaRPr lang="es-EC" sz="4200" b="1" dirty="0">
              <a:solidFill>
                <a:srgbClr val="38AA00"/>
              </a:solidFill>
              <a:latin typeface="Work Sans Bold Roman"/>
              <a:cs typeface="Aharoni" panose="02010803020104030203" pitchFamily="2" charset="-79"/>
            </a:endParaRPr>
          </a:p>
        </p:txBody>
      </p:sp>
      <p:cxnSp>
        <p:nvCxnSpPr>
          <p:cNvPr id="3" name="Conector recto 2">
            <a:extLst>
              <a:ext uri="{FF2B5EF4-FFF2-40B4-BE49-F238E27FC236}">
                <a16:creationId xmlns:a16="http://schemas.microsoft.com/office/drawing/2014/main" id="{3441502B-FBC0-4D6E-B4BC-89C7AD439BFC}"/>
              </a:ext>
            </a:extLst>
          </p:cNvPr>
          <p:cNvCxnSpPr>
            <a:cxnSpLocks/>
          </p:cNvCxnSpPr>
          <p:nvPr/>
        </p:nvCxnSpPr>
        <p:spPr>
          <a:xfrm>
            <a:off x="6096000" y="2343428"/>
            <a:ext cx="5829302" cy="0"/>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02AB52D8-4BAC-4598-9F4C-5D45D3EBF8CD}"/>
              </a:ext>
            </a:extLst>
          </p:cNvPr>
          <p:cNvSpPr txBox="1"/>
          <p:nvPr/>
        </p:nvSpPr>
        <p:spPr>
          <a:xfrm>
            <a:off x="6169961" y="2343428"/>
            <a:ext cx="5755341" cy="6063198"/>
          </a:xfrm>
          <a:prstGeom prst="rect">
            <a:avLst/>
          </a:prstGeom>
          <a:noFill/>
        </p:spPr>
        <p:txBody>
          <a:bodyPr wrap="square" rtlCol="0">
            <a:spAutoFit/>
          </a:bodyPr>
          <a:lstStyle/>
          <a:p>
            <a:pPr algn="l">
              <a:buFont typeface="Arial" panose="020B0604020202020204" pitchFamily="34" charset="0"/>
              <a:buChar char="•"/>
            </a:pPr>
            <a:r>
              <a:rPr lang="es-MX" b="0" i="0" dirty="0">
                <a:effectLst/>
                <a:latin typeface="system-ui"/>
              </a:rPr>
              <a:t>Extracción y Carga (ETL): Visual Studio con SSIS.</a:t>
            </a:r>
            <a:endParaRPr lang="es-419" b="0" i="0" dirty="0">
              <a:effectLst/>
              <a:latin typeface="system-ui"/>
            </a:endParaRPr>
          </a:p>
          <a:p>
            <a:pPr algn="l">
              <a:buFont typeface="Arial" panose="020B0604020202020204" pitchFamily="34" charset="0"/>
              <a:buChar char="•"/>
            </a:pPr>
            <a:endParaRPr lang="es-MX" b="0" i="0" dirty="0">
              <a:effectLst/>
              <a:latin typeface="system-ui"/>
            </a:endParaRPr>
          </a:p>
          <a:p>
            <a:pPr algn="l">
              <a:buFont typeface="Arial" panose="020B0604020202020204" pitchFamily="34" charset="0"/>
              <a:buChar char="•"/>
            </a:pPr>
            <a:r>
              <a:rPr lang="es-MX" b="0" i="0" dirty="0">
                <a:effectLst/>
                <a:latin typeface="system-ui"/>
              </a:rPr>
              <a:t>Almacenamiento: Microsoft SQL Server Express (modelo en estrella).</a:t>
            </a:r>
            <a:endParaRPr lang="es-419" b="0" i="0" dirty="0">
              <a:effectLst/>
              <a:latin typeface="system-ui"/>
            </a:endParaRPr>
          </a:p>
          <a:p>
            <a:pPr algn="l">
              <a:buFont typeface="Arial" panose="020B0604020202020204" pitchFamily="34" charset="0"/>
              <a:buChar char="•"/>
            </a:pPr>
            <a:endParaRPr lang="es-MX" b="0" i="0" dirty="0">
              <a:effectLst/>
              <a:latin typeface="system-ui"/>
            </a:endParaRPr>
          </a:p>
          <a:p>
            <a:pPr algn="l">
              <a:buFont typeface="Arial" panose="020B0604020202020204" pitchFamily="34" charset="0"/>
              <a:buChar char="•"/>
            </a:pPr>
            <a:r>
              <a:rPr lang="es-MX" b="0" i="0" dirty="0">
                <a:effectLst/>
                <a:latin typeface="system-ui"/>
              </a:rPr>
              <a:t>Visualización: Power BI (</a:t>
            </a:r>
            <a:r>
              <a:rPr lang="es-MX" b="0" i="0" dirty="0" err="1">
                <a:effectLst/>
                <a:latin typeface="system-ui"/>
              </a:rPr>
              <a:t>dashboards</a:t>
            </a:r>
            <a:r>
              <a:rPr lang="es-MX" b="0" i="0" dirty="0">
                <a:effectLst/>
                <a:latin typeface="system-ui"/>
              </a:rPr>
              <a:t> interactivos).</a:t>
            </a:r>
            <a:endParaRPr lang="es-419" b="0" i="0" dirty="0">
              <a:effectLst/>
              <a:latin typeface="system-ui"/>
            </a:endParaRPr>
          </a:p>
          <a:p>
            <a:pPr algn="l">
              <a:buFont typeface="Arial" panose="020B0604020202020204" pitchFamily="34" charset="0"/>
              <a:buChar char="•"/>
            </a:pPr>
            <a:endParaRPr lang="es-MX" b="0" i="0" dirty="0">
              <a:effectLst/>
              <a:latin typeface="system-ui"/>
            </a:endParaRPr>
          </a:p>
          <a:p>
            <a:pPr algn="l">
              <a:buFont typeface="Arial" panose="020B0604020202020204" pitchFamily="34" charset="0"/>
              <a:buChar char="•"/>
            </a:pPr>
            <a:r>
              <a:rPr lang="es-MX" b="0" i="0" dirty="0">
                <a:effectLst/>
                <a:latin typeface="system-ui"/>
              </a:rPr>
              <a:t>Automatización: n8n (alertas por correo cada 2 minutos o semanalmente).</a:t>
            </a:r>
            <a:endParaRPr lang="es-419" b="0" i="0" dirty="0">
              <a:effectLst/>
              <a:latin typeface="system-ui"/>
            </a:endParaRPr>
          </a:p>
          <a:p>
            <a:pPr algn="l">
              <a:buFont typeface="Arial" panose="020B0604020202020204" pitchFamily="34" charset="0"/>
              <a:buChar char="•"/>
            </a:pPr>
            <a:endParaRPr lang="es-MX" b="0" i="0" dirty="0">
              <a:effectLst/>
              <a:latin typeface="system-ui"/>
            </a:endParaRPr>
          </a:p>
          <a:p>
            <a:pPr algn="l">
              <a:buFont typeface="Arial" panose="020B0604020202020204" pitchFamily="34" charset="0"/>
              <a:buChar char="•"/>
            </a:pPr>
            <a:r>
              <a:rPr lang="es-MX" b="0" i="0" dirty="0">
                <a:effectLst/>
                <a:latin typeface="system-ui"/>
              </a:rPr>
              <a:t>Predicción: Python (regresión polinómica para estimar altura futura).</a:t>
            </a:r>
            <a:endParaRPr lang="es-419" b="0" i="0" dirty="0">
              <a:effectLst/>
              <a:latin typeface="system-ui"/>
            </a:endParaRPr>
          </a:p>
          <a:p>
            <a:pPr algn="l">
              <a:buFont typeface="Arial" panose="020B0604020202020204" pitchFamily="34" charset="0"/>
              <a:buChar char="•"/>
            </a:pPr>
            <a:endParaRPr lang="es-MX" b="0" i="0" dirty="0">
              <a:effectLst/>
              <a:latin typeface="system-ui"/>
            </a:endParaRPr>
          </a:p>
          <a:p>
            <a:pPr algn="l">
              <a:buFont typeface="Arial" panose="020B0604020202020204" pitchFamily="34" charset="0"/>
              <a:buChar char="•"/>
            </a:pPr>
            <a:r>
              <a:rPr lang="es-MX" b="0" i="0" dirty="0">
                <a:effectLst/>
                <a:latin typeface="system-ui"/>
              </a:rPr>
              <a:t>Documentación: Google </a:t>
            </a:r>
            <a:r>
              <a:rPr lang="es-MX" b="0" i="0" dirty="0" err="1">
                <a:effectLst/>
                <a:latin typeface="system-ui"/>
              </a:rPr>
              <a:t>Colab</a:t>
            </a:r>
            <a:r>
              <a:rPr lang="es-MX" b="0" i="0" dirty="0">
                <a:effectLst/>
                <a:latin typeface="system-ui"/>
              </a:rPr>
              <a:t> (generación automática de informes y presentaciones).</a:t>
            </a:r>
          </a:p>
          <a:p>
            <a:br>
              <a:rPr lang="es-MX" dirty="0"/>
            </a:br>
            <a:br>
              <a:rPr lang="es-MX" dirty="0"/>
            </a:br>
            <a:br>
              <a:rPr lang="es-MX" dirty="0"/>
            </a:br>
            <a:br>
              <a:rPr lang="es-MX" sz="1600" dirty="0"/>
            </a:br>
            <a:br>
              <a:rPr lang="es-MX" sz="1600" dirty="0"/>
            </a:br>
            <a:br>
              <a:rPr lang="es-MX" sz="1600" dirty="0"/>
            </a:br>
            <a:endParaRPr lang="es-EC" sz="1600" dirty="0"/>
          </a:p>
        </p:txBody>
      </p:sp>
      <p:pic>
        <p:nvPicPr>
          <p:cNvPr id="11" name="Imagen 10">
            <a:extLst>
              <a:ext uri="{FF2B5EF4-FFF2-40B4-BE49-F238E27FC236}">
                <a16:creationId xmlns:a16="http://schemas.microsoft.com/office/drawing/2014/main" id="{F9141AA6-1163-4823-3141-AB70D13C4AD3}"/>
              </a:ext>
            </a:extLst>
          </p:cNvPr>
          <p:cNvPicPr>
            <a:picLocks noChangeAspect="1"/>
          </p:cNvPicPr>
          <p:nvPr/>
        </p:nvPicPr>
        <p:blipFill>
          <a:blip r:embed="rId2"/>
          <a:stretch>
            <a:fillRect/>
          </a:stretch>
        </p:blipFill>
        <p:spPr>
          <a:xfrm>
            <a:off x="502977" y="1586614"/>
            <a:ext cx="5271386" cy="5271386"/>
          </a:xfrm>
          <a:prstGeom prst="rect">
            <a:avLst/>
          </a:prstGeom>
        </p:spPr>
      </p:pic>
    </p:spTree>
    <p:extLst>
      <p:ext uri="{BB962C8B-B14F-4D97-AF65-F5344CB8AC3E}">
        <p14:creationId xmlns:p14="http://schemas.microsoft.com/office/powerpoint/2010/main" val="4081719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0E12FC-14BE-4E68-BC34-71A008EA06BC}"/>
              </a:ext>
            </a:extLst>
          </p:cNvPr>
          <p:cNvSpPr>
            <a:spLocks noGrp="1"/>
          </p:cNvSpPr>
          <p:nvPr>
            <p:ph type="title"/>
          </p:nvPr>
        </p:nvSpPr>
        <p:spPr>
          <a:xfrm>
            <a:off x="232614" y="1915971"/>
            <a:ext cx="4195482" cy="572528"/>
          </a:xfrm>
        </p:spPr>
        <p:txBody>
          <a:bodyPr>
            <a:normAutofit fontScale="90000"/>
          </a:bodyPr>
          <a:lstStyle/>
          <a:p>
            <a:r>
              <a:rPr lang="es-EC" sz="4200" b="1" dirty="0">
                <a:solidFill>
                  <a:srgbClr val="38AA00"/>
                </a:solidFill>
                <a:latin typeface="Work Sans Bold Roman"/>
              </a:rPr>
              <a:t>I</a:t>
            </a:r>
            <a:r>
              <a:rPr lang="es-EC" sz="4200" b="1" i="0" dirty="0">
                <a:solidFill>
                  <a:srgbClr val="38AA00"/>
                </a:solidFill>
                <a:effectLst/>
                <a:latin typeface="Work Sans Bold Roman"/>
              </a:rPr>
              <a:t>nnovación</a:t>
            </a:r>
            <a:endParaRPr lang="es-EC" sz="4200" b="1" dirty="0">
              <a:solidFill>
                <a:srgbClr val="38AA00"/>
              </a:solidFill>
              <a:latin typeface="Work Sans Bold Roman"/>
              <a:cs typeface="Aharoni" panose="02010803020104030203" pitchFamily="2" charset="-79"/>
            </a:endParaRPr>
          </a:p>
        </p:txBody>
      </p:sp>
      <p:cxnSp>
        <p:nvCxnSpPr>
          <p:cNvPr id="3" name="Conector recto 2">
            <a:extLst>
              <a:ext uri="{FF2B5EF4-FFF2-40B4-BE49-F238E27FC236}">
                <a16:creationId xmlns:a16="http://schemas.microsoft.com/office/drawing/2014/main" id="{3441502B-FBC0-4D6E-B4BC-89C7AD439BFC}"/>
              </a:ext>
            </a:extLst>
          </p:cNvPr>
          <p:cNvCxnSpPr>
            <a:cxnSpLocks/>
          </p:cNvCxnSpPr>
          <p:nvPr/>
        </p:nvCxnSpPr>
        <p:spPr>
          <a:xfrm>
            <a:off x="0" y="2627227"/>
            <a:ext cx="5445696" cy="0"/>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sp>
        <p:nvSpPr>
          <p:cNvPr id="4" name="CuadroTexto 3">
            <a:extLst>
              <a:ext uri="{FF2B5EF4-FFF2-40B4-BE49-F238E27FC236}">
                <a16:creationId xmlns:a16="http://schemas.microsoft.com/office/drawing/2014/main" id="{02AB52D8-4BAC-4598-9F4C-5D45D3EBF8CD}"/>
              </a:ext>
            </a:extLst>
          </p:cNvPr>
          <p:cNvSpPr txBox="1"/>
          <p:nvPr/>
        </p:nvSpPr>
        <p:spPr>
          <a:xfrm>
            <a:off x="-1" y="2488499"/>
            <a:ext cx="6300313" cy="4493538"/>
          </a:xfrm>
          <a:prstGeom prst="rect">
            <a:avLst/>
          </a:prstGeom>
          <a:noFill/>
        </p:spPr>
        <p:txBody>
          <a:bodyPr wrap="square" rtlCol="0">
            <a:spAutoFit/>
          </a:bodyPr>
          <a:lstStyle/>
          <a:p>
            <a:pPr algn="l"/>
            <a:br>
              <a:rPr lang="es-MX" dirty="0"/>
            </a:br>
            <a:r>
              <a:rPr lang="es-MX" b="0" i="0" dirty="0">
                <a:effectLst/>
                <a:latin typeface="system-ui"/>
              </a:rPr>
              <a:t>Este proyecto integra por primera vez en una academia local:</a:t>
            </a:r>
            <a:endParaRPr lang="es-419" b="0" i="0" dirty="0">
              <a:effectLst/>
              <a:latin typeface="system-ui"/>
            </a:endParaRPr>
          </a:p>
          <a:p>
            <a:pPr algn="l"/>
            <a:endParaRPr lang="es-MX" b="0" i="0" dirty="0">
              <a:effectLst/>
              <a:latin typeface="system-ui"/>
            </a:endParaRPr>
          </a:p>
          <a:p>
            <a:pPr algn="l">
              <a:buFont typeface="Arial" panose="020B0604020202020204" pitchFamily="34" charset="0"/>
              <a:buChar char="•"/>
            </a:pPr>
            <a:r>
              <a:rPr lang="es-MX" b="0" i="0" dirty="0">
                <a:effectLst/>
                <a:latin typeface="system-ui"/>
              </a:rPr>
              <a:t>Un flujo ETL automatizado desde Excel.</a:t>
            </a:r>
            <a:endParaRPr lang="es-419" b="0" i="0" dirty="0">
              <a:effectLst/>
              <a:latin typeface="system-ui"/>
            </a:endParaRPr>
          </a:p>
          <a:p>
            <a:pPr algn="l">
              <a:buFont typeface="Arial" panose="020B0604020202020204" pitchFamily="34" charset="0"/>
              <a:buChar char="•"/>
            </a:pPr>
            <a:endParaRPr lang="es-MX" b="0" i="0" dirty="0">
              <a:effectLst/>
              <a:latin typeface="system-ui"/>
            </a:endParaRPr>
          </a:p>
          <a:p>
            <a:pPr algn="l">
              <a:buFont typeface="Arial" panose="020B0604020202020204" pitchFamily="34" charset="0"/>
              <a:buChar char="•"/>
            </a:pPr>
            <a:r>
              <a:rPr lang="es-MX" b="0" i="0" dirty="0">
                <a:effectLst/>
                <a:latin typeface="system-ui"/>
              </a:rPr>
              <a:t>Un modelo predictivo ligero para crecimiento físico.</a:t>
            </a:r>
            <a:endParaRPr lang="es-419" b="0" i="0" dirty="0">
              <a:effectLst/>
              <a:latin typeface="system-ui"/>
            </a:endParaRPr>
          </a:p>
          <a:p>
            <a:pPr algn="l">
              <a:buFont typeface="Arial" panose="020B0604020202020204" pitchFamily="34" charset="0"/>
              <a:buChar char="•"/>
            </a:pPr>
            <a:endParaRPr lang="es-MX" b="0" i="0" dirty="0">
              <a:effectLst/>
              <a:latin typeface="system-ui"/>
            </a:endParaRPr>
          </a:p>
          <a:p>
            <a:pPr algn="l">
              <a:buFont typeface="Arial" panose="020B0604020202020204" pitchFamily="34" charset="0"/>
              <a:buChar char="•"/>
            </a:pPr>
            <a:r>
              <a:rPr lang="es-MX" b="0" i="0" dirty="0">
                <a:effectLst/>
                <a:latin typeface="system-ui"/>
              </a:rPr>
              <a:t>Alertas en tiempo casi real vía n8n.</a:t>
            </a:r>
            <a:endParaRPr lang="es-419" b="0" i="0" dirty="0">
              <a:effectLst/>
              <a:latin typeface="system-ui"/>
            </a:endParaRPr>
          </a:p>
          <a:p>
            <a:pPr algn="l">
              <a:buFont typeface="Arial" panose="020B0604020202020204" pitchFamily="34" charset="0"/>
              <a:buChar char="•"/>
            </a:pPr>
            <a:endParaRPr lang="es-MX" b="0" i="0" dirty="0">
              <a:effectLst/>
              <a:latin typeface="system-ui"/>
            </a:endParaRPr>
          </a:p>
          <a:p>
            <a:pPr algn="l">
              <a:buFont typeface="Arial" panose="020B0604020202020204" pitchFamily="34" charset="0"/>
              <a:buChar char="•"/>
            </a:pPr>
            <a:r>
              <a:rPr lang="es-MX" b="0" i="0" dirty="0">
                <a:effectLst/>
                <a:latin typeface="system-ui"/>
              </a:rPr>
              <a:t>Una presentación comercial automática en PowerPoint con gráficos reales.</a:t>
            </a:r>
            <a:endParaRPr lang="es-419" b="0" i="0" dirty="0">
              <a:effectLst/>
              <a:latin typeface="system-ui"/>
            </a:endParaRPr>
          </a:p>
          <a:p>
            <a:pPr algn="l">
              <a:buFont typeface="Arial" panose="020B0604020202020204" pitchFamily="34" charset="0"/>
              <a:buChar char="•"/>
            </a:pPr>
            <a:endParaRPr lang="es-MX" b="0" i="0" dirty="0">
              <a:effectLst/>
              <a:latin typeface="system-ui"/>
            </a:endParaRPr>
          </a:p>
          <a:p>
            <a:pPr algn="l"/>
            <a:r>
              <a:rPr lang="es-MX" b="0" i="0" dirty="0">
                <a:effectLst/>
                <a:latin typeface="system-ui"/>
              </a:rPr>
              <a:t>Todo ello con herramientas </a:t>
            </a:r>
            <a:r>
              <a:rPr lang="es-MX" b="0" i="0" dirty="0" err="1">
                <a:effectLst/>
                <a:latin typeface="system-ui"/>
              </a:rPr>
              <a:t>low-code</a:t>
            </a:r>
            <a:r>
              <a:rPr lang="es-MX" b="0" i="0" dirty="0">
                <a:effectLst/>
                <a:latin typeface="system-ui"/>
              </a:rPr>
              <a:t> y open-</a:t>
            </a:r>
            <a:r>
              <a:rPr lang="es-MX" b="0" i="0" dirty="0" err="1">
                <a:effectLst/>
                <a:latin typeface="system-ui"/>
              </a:rPr>
              <a:t>source</a:t>
            </a:r>
            <a:r>
              <a:rPr lang="es-MX" b="0" i="0" dirty="0">
                <a:effectLst/>
                <a:latin typeface="system-ui"/>
              </a:rPr>
              <a:t>, demostrando que la inteligencia de negocios no es exclusiva de grandes empresas.</a:t>
            </a:r>
            <a:br>
              <a:rPr lang="es-MX" sz="1600" dirty="0"/>
            </a:br>
            <a:endParaRPr lang="es-EC" sz="1600" dirty="0"/>
          </a:p>
        </p:txBody>
      </p:sp>
      <p:pic>
        <p:nvPicPr>
          <p:cNvPr id="1070" name="Picture 46" descr="Innovaciones Tecnológicas en el Deporte: Preparación ...">
            <a:extLst>
              <a:ext uri="{FF2B5EF4-FFF2-40B4-BE49-F238E27FC236}">
                <a16:creationId xmlns:a16="http://schemas.microsoft.com/office/drawing/2014/main" id="{4FF131A4-2ED6-439E-905F-7B980E3CD9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5258" y="2209800"/>
            <a:ext cx="4688542" cy="3752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5012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E0612C-7800-490B-89AE-91F8518F02A6}"/>
              </a:ext>
            </a:extLst>
          </p:cNvPr>
          <p:cNvSpPr>
            <a:spLocks noGrp="1"/>
          </p:cNvSpPr>
          <p:nvPr>
            <p:ph type="title"/>
          </p:nvPr>
        </p:nvSpPr>
        <p:spPr>
          <a:xfrm>
            <a:off x="118782" y="1323375"/>
            <a:ext cx="4894729" cy="1237129"/>
          </a:xfrm>
        </p:spPr>
        <p:txBody>
          <a:bodyPr>
            <a:normAutofit/>
          </a:bodyPr>
          <a:lstStyle/>
          <a:p>
            <a:r>
              <a:rPr lang="es-EC" sz="3800" dirty="0">
                <a:solidFill>
                  <a:srgbClr val="38AA00"/>
                </a:solidFill>
                <a:latin typeface="Work Sans Bold Roman"/>
              </a:rPr>
              <a:t>Metodología</a:t>
            </a:r>
          </a:p>
        </p:txBody>
      </p:sp>
      <p:cxnSp>
        <p:nvCxnSpPr>
          <p:cNvPr id="3" name="Conector recto 2">
            <a:extLst>
              <a:ext uri="{FF2B5EF4-FFF2-40B4-BE49-F238E27FC236}">
                <a16:creationId xmlns:a16="http://schemas.microsoft.com/office/drawing/2014/main" id="{84962EA6-ED86-4A7A-8FCC-95B299BB6632}"/>
              </a:ext>
            </a:extLst>
          </p:cNvPr>
          <p:cNvCxnSpPr>
            <a:cxnSpLocks/>
          </p:cNvCxnSpPr>
          <p:nvPr/>
        </p:nvCxnSpPr>
        <p:spPr>
          <a:xfrm>
            <a:off x="0" y="2163553"/>
            <a:ext cx="7334085" cy="0"/>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FCF98A98-680B-478F-AD89-E3C89F0EAF74}"/>
              </a:ext>
            </a:extLst>
          </p:cNvPr>
          <p:cNvSpPr txBox="1"/>
          <p:nvPr/>
        </p:nvSpPr>
        <p:spPr>
          <a:xfrm>
            <a:off x="0" y="2560504"/>
            <a:ext cx="7737497" cy="4247317"/>
          </a:xfrm>
          <a:prstGeom prst="rect">
            <a:avLst/>
          </a:prstGeom>
          <a:noFill/>
        </p:spPr>
        <p:txBody>
          <a:bodyPr wrap="square" rtlCol="0">
            <a:spAutoFit/>
          </a:bodyPr>
          <a:lstStyle/>
          <a:p>
            <a:r>
              <a:rPr lang="es-MX" b="1" dirty="0"/>
              <a:t>Extracción: </a:t>
            </a:r>
            <a:r>
              <a:rPr lang="es-MX" dirty="0"/>
              <a:t>Leer datos desde ANTROPOMETRIA_ALEMANA_CORREGIDA.xlsx.</a:t>
            </a:r>
            <a:endParaRPr lang="es-419" dirty="0"/>
          </a:p>
          <a:p>
            <a:endParaRPr lang="es-MX" dirty="0"/>
          </a:p>
          <a:p>
            <a:r>
              <a:rPr lang="es-MX" b="1" dirty="0"/>
              <a:t>Transformación: </a:t>
            </a:r>
            <a:r>
              <a:rPr lang="es-MX" dirty="0"/>
              <a:t>Corregir altura (cm → m), estandarizar tipos, validar integridad.</a:t>
            </a:r>
            <a:endParaRPr lang="es-419" dirty="0"/>
          </a:p>
          <a:p>
            <a:endParaRPr lang="es-MX" dirty="0"/>
          </a:p>
          <a:p>
            <a:r>
              <a:rPr lang="es-MX" b="1" dirty="0"/>
              <a:t>Carga: </a:t>
            </a:r>
            <a:r>
              <a:rPr lang="es-MX" dirty="0"/>
              <a:t>Insertar en tablas SQL con relaciones (FOREIGN KEY).</a:t>
            </a:r>
            <a:r>
              <a:rPr lang="es-419" dirty="0"/>
              <a:t> </a:t>
            </a:r>
          </a:p>
          <a:p>
            <a:endParaRPr lang="es-MX" dirty="0"/>
          </a:p>
          <a:p>
            <a:r>
              <a:rPr lang="es-MX" b="1" dirty="0"/>
              <a:t>Modelado: </a:t>
            </a:r>
            <a:r>
              <a:rPr lang="es-MX" dirty="0"/>
              <a:t>Crear modelo predictivo en Python (altura a los 18 años).</a:t>
            </a:r>
            <a:endParaRPr lang="es-419" dirty="0"/>
          </a:p>
          <a:p>
            <a:endParaRPr lang="es-MX" dirty="0"/>
          </a:p>
          <a:p>
            <a:r>
              <a:rPr lang="es-MX" b="1" dirty="0"/>
              <a:t>Visualización: </a:t>
            </a:r>
            <a:r>
              <a:rPr lang="es-MX" dirty="0"/>
              <a:t>Construir dashboard en Power BI con KPIs clave.</a:t>
            </a:r>
            <a:endParaRPr lang="es-419" dirty="0"/>
          </a:p>
          <a:p>
            <a:endParaRPr lang="es-MX" dirty="0"/>
          </a:p>
          <a:p>
            <a:r>
              <a:rPr lang="es-MX" b="1" dirty="0"/>
              <a:t>Automatización: </a:t>
            </a:r>
            <a:r>
              <a:rPr lang="es-MX" dirty="0"/>
              <a:t>Configurar n8n para envío de alertas por correo.</a:t>
            </a:r>
            <a:endParaRPr lang="es-419" dirty="0"/>
          </a:p>
          <a:p>
            <a:endParaRPr lang="es-MX" dirty="0"/>
          </a:p>
          <a:p>
            <a:r>
              <a:rPr lang="es-MX" b="1" dirty="0"/>
              <a:t>Comunicación: </a:t>
            </a:r>
            <a:r>
              <a:rPr lang="es-MX" dirty="0"/>
              <a:t>Generar documentos y presentaciones automáticas para stakeholders.</a:t>
            </a:r>
          </a:p>
          <a:p>
            <a:endParaRPr lang="es-EC" dirty="0"/>
          </a:p>
        </p:txBody>
      </p:sp>
      <p:pic>
        <p:nvPicPr>
          <p:cNvPr id="7" name="Imagen 6">
            <a:extLst>
              <a:ext uri="{FF2B5EF4-FFF2-40B4-BE49-F238E27FC236}">
                <a16:creationId xmlns:a16="http://schemas.microsoft.com/office/drawing/2014/main" id="{EDCB9962-D654-8462-08F2-82949E96DD62}"/>
              </a:ext>
            </a:extLst>
          </p:cNvPr>
          <p:cNvPicPr>
            <a:picLocks noChangeAspect="1"/>
          </p:cNvPicPr>
          <p:nvPr/>
        </p:nvPicPr>
        <p:blipFill>
          <a:blip r:embed="rId2"/>
          <a:stretch>
            <a:fillRect/>
          </a:stretch>
        </p:blipFill>
        <p:spPr>
          <a:xfrm flipH="1">
            <a:off x="7737497" y="3106715"/>
            <a:ext cx="4162011" cy="2504914"/>
          </a:xfrm>
          <a:prstGeom prst="rect">
            <a:avLst/>
          </a:prstGeom>
        </p:spPr>
      </p:pic>
    </p:spTree>
    <p:extLst>
      <p:ext uri="{BB962C8B-B14F-4D97-AF65-F5344CB8AC3E}">
        <p14:creationId xmlns:p14="http://schemas.microsoft.com/office/powerpoint/2010/main" val="1534748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E0612C-7800-490B-89AE-91F8518F02A6}"/>
              </a:ext>
            </a:extLst>
          </p:cNvPr>
          <p:cNvSpPr>
            <a:spLocks noGrp="1"/>
          </p:cNvSpPr>
          <p:nvPr>
            <p:ph type="title"/>
          </p:nvPr>
        </p:nvSpPr>
        <p:spPr>
          <a:xfrm>
            <a:off x="2949610" y="3536578"/>
            <a:ext cx="6292780" cy="403408"/>
          </a:xfrm>
        </p:spPr>
        <p:txBody>
          <a:bodyPr>
            <a:normAutofit fontScale="90000"/>
          </a:bodyPr>
          <a:lstStyle/>
          <a:p>
            <a:pPr algn="ctr"/>
            <a:r>
              <a:rPr lang="es-419" sz="3800" dirty="0">
                <a:solidFill>
                  <a:srgbClr val="38AA00"/>
                </a:solidFill>
                <a:latin typeface="Work Sans Bold Roman"/>
              </a:rPr>
              <a:t>R</a:t>
            </a:r>
            <a:r>
              <a:rPr lang="es-EC" sz="3800" dirty="0">
                <a:solidFill>
                  <a:srgbClr val="38AA00"/>
                </a:solidFill>
                <a:effectLst/>
                <a:latin typeface="Work Sans Bold Roman"/>
              </a:rPr>
              <a:t>eferencia bibliográfica</a:t>
            </a:r>
            <a:r>
              <a:rPr lang="es-419" sz="3800" dirty="0">
                <a:solidFill>
                  <a:srgbClr val="38AA00"/>
                </a:solidFill>
                <a:effectLst/>
                <a:latin typeface="Work Sans Bold Roman"/>
              </a:rPr>
              <a:t>s</a:t>
            </a:r>
            <a:endParaRPr lang="es-EC" sz="3800" dirty="0">
              <a:solidFill>
                <a:srgbClr val="38AA00"/>
              </a:solidFill>
              <a:latin typeface="Work Sans Bold Roman"/>
            </a:endParaRPr>
          </a:p>
        </p:txBody>
      </p:sp>
      <p:cxnSp>
        <p:nvCxnSpPr>
          <p:cNvPr id="3" name="Conector recto 2">
            <a:extLst>
              <a:ext uri="{FF2B5EF4-FFF2-40B4-BE49-F238E27FC236}">
                <a16:creationId xmlns:a16="http://schemas.microsoft.com/office/drawing/2014/main" id="{84962EA6-ED86-4A7A-8FCC-95B299BB6632}"/>
              </a:ext>
            </a:extLst>
          </p:cNvPr>
          <p:cNvCxnSpPr>
            <a:cxnSpLocks/>
          </p:cNvCxnSpPr>
          <p:nvPr/>
        </p:nvCxnSpPr>
        <p:spPr>
          <a:xfrm flipV="1">
            <a:off x="2317654" y="3939986"/>
            <a:ext cx="7841803" cy="18555"/>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FCF98A98-680B-478F-AD89-E3C89F0EAF74}"/>
              </a:ext>
            </a:extLst>
          </p:cNvPr>
          <p:cNvSpPr txBox="1"/>
          <p:nvPr/>
        </p:nvSpPr>
        <p:spPr>
          <a:xfrm>
            <a:off x="2032543" y="4105317"/>
            <a:ext cx="8126914" cy="3139321"/>
          </a:xfrm>
          <a:prstGeom prst="rect">
            <a:avLst/>
          </a:prstGeom>
          <a:noFill/>
        </p:spPr>
        <p:txBody>
          <a:bodyPr wrap="square" rtlCol="0">
            <a:spAutoFit/>
          </a:bodyPr>
          <a:lstStyle/>
          <a:p>
            <a:pPr algn="ctr">
              <a:buFont typeface="Arial" panose="020B0604020202020204" pitchFamily="34" charset="0"/>
              <a:buChar char="•"/>
            </a:pPr>
            <a:r>
              <a:rPr lang="es-MX" dirty="0">
                <a:effectLst/>
              </a:rPr>
              <a:t>SENA. (2025). </a:t>
            </a:r>
            <a:r>
              <a:rPr lang="es-MX" i="1" dirty="0">
                <a:effectLst/>
              </a:rPr>
              <a:t>Programa de Formación: Análisis de Datos</a:t>
            </a:r>
            <a:r>
              <a:rPr lang="es-MX" dirty="0">
                <a:effectLst/>
              </a:rPr>
              <a:t>.</a:t>
            </a:r>
            <a:endParaRPr lang="es-419" dirty="0">
              <a:effectLst/>
            </a:endParaRPr>
          </a:p>
          <a:p>
            <a:pPr algn="ctr">
              <a:buFont typeface="Arial" panose="020B0604020202020204" pitchFamily="34" charset="0"/>
              <a:buChar char="•"/>
            </a:pPr>
            <a:endParaRPr lang="es-MX" dirty="0">
              <a:effectLst/>
            </a:endParaRPr>
          </a:p>
          <a:p>
            <a:pPr algn="ctr">
              <a:buFont typeface="Arial" panose="020B0604020202020204" pitchFamily="34" charset="0"/>
              <a:buChar char="•"/>
            </a:pPr>
            <a:r>
              <a:rPr lang="es-MX" dirty="0">
                <a:effectLst/>
              </a:rPr>
              <a:t>Microsoft. (2025). </a:t>
            </a:r>
            <a:r>
              <a:rPr lang="es-MX" i="1" dirty="0">
                <a:effectLst/>
              </a:rPr>
              <a:t>Documentación SSIS y Power BI</a:t>
            </a:r>
            <a:r>
              <a:rPr lang="es-MX" dirty="0">
                <a:effectLst/>
              </a:rPr>
              <a:t>.</a:t>
            </a:r>
            <a:endParaRPr lang="es-419" dirty="0">
              <a:effectLst/>
            </a:endParaRPr>
          </a:p>
          <a:p>
            <a:pPr algn="ctr">
              <a:buFont typeface="Arial" panose="020B0604020202020204" pitchFamily="34" charset="0"/>
              <a:buChar char="•"/>
            </a:pPr>
            <a:endParaRPr lang="es-MX" dirty="0">
              <a:effectLst/>
            </a:endParaRPr>
          </a:p>
          <a:p>
            <a:pPr algn="ctr">
              <a:buFont typeface="Arial" panose="020B0604020202020204" pitchFamily="34" charset="0"/>
              <a:buChar char="•"/>
            </a:pPr>
            <a:r>
              <a:rPr lang="es-MX" dirty="0">
                <a:effectLst/>
              </a:rPr>
              <a:t>n8n.io. (2025). </a:t>
            </a:r>
            <a:r>
              <a:rPr lang="es-MX" i="1" dirty="0">
                <a:effectLst/>
              </a:rPr>
              <a:t>Documentación oficial de automatización</a:t>
            </a:r>
            <a:r>
              <a:rPr lang="es-MX" dirty="0">
                <a:effectLst/>
              </a:rPr>
              <a:t>.</a:t>
            </a:r>
            <a:endParaRPr lang="es-419" dirty="0">
              <a:effectLst/>
            </a:endParaRPr>
          </a:p>
          <a:p>
            <a:pPr algn="ctr">
              <a:buFont typeface="Arial" panose="020B0604020202020204" pitchFamily="34" charset="0"/>
              <a:buChar char="•"/>
            </a:pPr>
            <a:endParaRPr lang="es-MX" dirty="0">
              <a:effectLst/>
            </a:endParaRPr>
          </a:p>
          <a:p>
            <a:pPr algn="ctr">
              <a:buFont typeface="Arial" panose="020B0604020202020204" pitchFamily="34" charset="0"/>
              <a:buChar char="•"/>
            </a:pPr>
            <a:r>
              <a:rPr lang="es-MX" dirty="0">
                <a:effectLst/>
              </a:rPr>
              <a:t>García, M. (2020). </a:t>
            </a:r>
            <a:r>
              <a:rPr lang="es-MX" i="1" dirty="0">
                <a:effectLst/>
              </a:rPr>
              <a:t>Antropometría aplicada al deporte</a:t>
            </a:r>
            <a:r>
              <a:rPr lang="es-MX" dirty="0">
                <a:effectLst/>
              </a:rPr>
              <a:t>. Editorial Deporte y Salud.</a:t>
            </a:r>
            <a:endParaRPr lang="es-419" dirty="0">
              <a:effectLst/>
            </a:endParaRPr>
          </a:p>
          <a:p>
            <a:pPr algn="ctr">
              <a:buFont typeface="Arial" panose="020B0604020202020204" pitchFamily="34" charset="0"/>
              <a:buChar char="•"/>
            </a:pPr>
            <a:endParaRPr lang="es-MX" dirty="0">
              <a:effectLst/>
            </a:endParaRPr>
          </a:p>
          <a:p>
            <a:pPr algn="ctr">
              <a:buFont typeface="Arial" panose="020B0604020202020204" pitchFamily="34" charset="0"/>
              <a:buChar char="•"/>
            </a:pPr>
            <a:r>
              <a:rPr lang="es-MX" dirty="0" err="1">
                <a:effectLst/>
              </a:rPr>
              <a:t>World</a:t>
            </a:r>
            <a:r>
              <a:rPr lang="es-MX" dirty="0">
                <a:effectLst/>
              </a:rPr>
              <a:t> </a:t>
            </a:r>
            <a:r>
              <a:rPr lang="es-MX" dirty="0" err="1">
                <a:effectLst/>
              </a:rPr>
              <a:t>Health</a:t>
            </a:r>
            <a:r>
              <a:rPr lang="es-MX" dirty="0">
                <a:effectLst/>
              </a:rPr>
              <a:t> </a:t>
            </a:r>
            <a:r>
              <a:rPr lang="es-MX" dirty="0" err="1">
                <a:effectLst/>
              </a:rPr>
              <a:t>Organization</a:t>
            </a:r>
            <a:r>
              <a:rPr lang="es-MX" dirty="0">
                <a:effectLst/>
              </a:rPr>
              <a:t> (WHO). </a:t>
            </a:r>
            <a:r>
              <a:rPr lang="es-MX" i="1" dirty="0">
                <a:effectLst/>
              </a:rPr>
              <a:t>Crecimiento y desarrollo en adolescentes</a:t>
            </a:r>
            <a:r>
              <a:rPr lang="es-MX" dirty="0">
                <a:effectLst/>
              </a:rPr>
              <a:t>.</a:t>
            </a:r>
          </a:p>
          <a:p>
            <a:pPr algn="ctr"/>
            <a:endParaRPr lang="es-MX" dirty="0"/>
          </a:p>
          <a:p>
            <a:pPr algn="ctr"/>
            <a:endParaRPr lang="es-EC" dirty="0"/>
          </a:p>
        </p:txBody>
      </p:sp>
      <p:pic>
        <p:nvPicPr>
          <p:cNvPr id="11266" name="Picture 2" descr="Cómo recuperar citas bibliográficas contextualizadas en tus búsquedas de  documentación científica - NeoScientia">
            <a:extLst>
              <a:ext uri="{FF2B5EF4-FFF2-40B4-BE49-F238E27FC236}">
                <a16:creationId xmlns:a16="http://schemas.microsoft.com/office/drawing/2014/main" id="{410CFE49-2C7C-460F-9B4F-325FB438C9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5780" y="1594884"/>
            <a:ext cx="2600439" cy="1794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451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E0612C-7800-490B-89AE-91F8518F02A6}"/>
              </a:ext>
            </a:extLst>
          </p:cNvPr>
          <p:cNvSpPr>
            <a:spLocks noGrp="1"/>
          </p:cNvSpPr>
          <p:nvPr>
            <p:ph type="title"/>
          </p:nvPr>
        </p:nvSpPr>
        <p:spPr>
          <a:xfrm>
            <a:off x="290071" y="1865728"/>
            <a:ext cx="4894729" cy="1175047"/>
          </a:xfrm>
        </p:spPr>
        <p:txBody>
          <a:bodyPr>
            <a:normAutofit/>
          </a:bodyPr>
          <a:lstStyle/>
          <a:p>
            <a:r>
              <a:rPr lang="es-EC" sz="3800" dirty="0">
                <a:solidFill>
                  <a:srgbClr val="38AA00"/>
                </a:solidFill>
                <a:latin typeface="Work Sans Bold Roman"/>
              </a:rPr>
              <a:t>Conclusiones </a:t>
            </a:r>
          </a:p>
        </p:txBody>
      </p:sp>
      <p:cxnSp>
        <p:nvCxnSpPr>
          <p:cNvPr id="3" name="Conector recto 2">
            <a:extLst>
              <a:ext uri="{FF2B5EF4-FFF2-40B4-BE49-F238E27FC236}">
                <a16:creationId xmlns:a16="http://schemas.microsoft.com/office/drawing/2014/main" id="{84962EA6-ED86-4A7A-8FCC-95B299BB6632}"/>
              </a:ext>
            </a:extLst>
          </p:cNvPr>
          <p:cNvCxnSpPr>
            <a:cxnSpLocks/>
          </p:cNvCxnSpPr>
          <p:nvPr/>
        </p:nvCxnSpPr>
        <p:spPr>
          <a:xfrm>
            <a:off x="290071" y="3248851"/>
            <a:ext cx="11702000" cy="0"/>
          </a:xfrm>
          <a:prstGeom prst="line">
            <a:avLst/>
          </a:prstGeom>
          <a:ln w="12700">
            <a:solidFill>
              <a:srgbClr val="4D4D4C"/>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FCF98A98-680B-478F-AD89-E3C89F0EAF74}"/>
              </a:ext>
            </a:extLst>
          </p:cNvPr>
          <p:cNvSpPr txBox="1"/>
          <p:nvPr/>
        </p:nvSpPr>
        <p:spPr>
          <a:xfrm>
            <a:off x="106401" y="3429000"/>
            <a:ext cx="5786718" cy="3139321"/>
          </a:xfrm>
          <a:prstGeom prst="rect">
            <a:avLst/>
          </a:prstGeom>
          <a:noFill/>
        </p:spPr>
        <p:txBody>
          <a:bodyPr wrap="square" rtlCol="0">
            <a:spAutoFit/>
          </a:bodyPr>
          <a:lstStyle/>
          <a:p>
            <a:pPr marL="285750" indent="-285750">
              <a:buFont typeface="Arial" panose="020B0604020202020204" pitchFamily="34" charset="0"/>
              <a:buChar char="•"/>
            </a:pPr>
            <a:r>
              <a:rPr lang="es-MX" dirty="0">
                <a:effectLst/>
              </a:rPr>
              <a:t>Es posible </a:t>
            </a:r>
            <a:r>
              <a:rPr lang="es-MX" b="0" dirty="0">
                <a:effectLst/>
              </a:rPr>
              <a:t>automatizar el análisis antropométrico</a:t>
            </a:r>
            <a:r>
              <a:rPr lang="es-MX" dirty="0">
                <a:effectLst/>
              </a:rPr>
              <a:t> con herramientas accesibles y sin altos costos.</a:t>
            </a:r>
            <a:endParaRPr lang="es-419" dirty="0">
              <a:effectLst/>
            </a:endParaRPr>
          </a:p>
          <a:p>
            <a:pPr marL="285750" indent="-285750">
              <a:buFont typeface="Arial" panose="020B0604020202020204" pitchFamily="34" charset="0"/>
              <a:buChar char="•"/>
            </a:pPr>
            <a:endParaRPr lang="es-MX" dirty="0">
              <a:effectLst/>
            </a:endParaRPr>
          </a:p>
          <a:p>
            <a:pPr marL="285750" indent="-285750">
              <a:buFont typeface="Arial" panose="020B0604020202020204" pitchFamily="34" charset="0"/>
              <a:buChar char="•"/>
            </a:pPr>
            <a:r>
              <a:rPr lang="es-MX" dirty="0">
                <a:effectLst/>
              </a:rPr>
              <a:t>La </a:t>
            </a:r>
            <a:r>
              <a:rPr lang="es-MX" b="0" dirty="0">
                <a:effectLst/>
              </a:rPr>
              <a:t>integración de SSIS, SQL Server, Power BI, n8n y Python</a:t>
            </a:r>
            <a:r>
              <a:rPr lang="es-MX" dirty="0">
                <a:effectLst/>
              </a:rPr>
              <a:t> crea un ecosistema potente y </a:t>
            </a:r>
            <a:r>
              <a:rPr lang="es-MX" dirty="0" err="1">
                <a:effectLst/>
              </a:rPr>
              <a:t>escalable</a:t>
            </a:r>
            <a:r>
              <a:rPr lang="es-MX" dirty="0">
                <a:effectLst/>
              </a:rPr>
              <a:t>.</a:t>
            </a:r>
            <a:endParaRPr lang="es-419" dirty="0">
              <a:effectLst/>
            </a:endParaRPr>
          </a:p>
          <a:p>
            <a:pPr marL="285750" indent="-285750">
              <a:buFont typeface="Arial" panose="020B0604020202020204" pitchFamily="34" charset="0"/>
              <a:buChar char="•"/>
            </a:pPr>
            <a:endParaRPr lang="es-MX" dirty="0">
              <a:effectLst/>
            </a:endParaRPr>
          </a:p>
          <a:p>
            <a:pPr marL="285750" indent="-285750">
              <a:buFont typeface="Arial" panose="020B0604020202020204" pitchFamily="34" charset="0"/>
              <a:buChar char="•"/>
            </a:pPr>
            <a:r>
              <a:rPr lang="es-MX" dirty="0">
                <a:effectLst/>
              </a:rPr>
              <a:t>Este proyecto </a:t>
            </a:r>
            <a:r>
              <a:rPr lang="es-MX" b="0" dirty="0">
                <a:effectLst/>
              </a:rPr>
              <a:t>resuelve un problema real</a:t>
            </a:r>
            <a:r>
              <a:rPr lang="es-MX" dirty="0">
                <a:effectLst/>
              </a:rPr>
              <a:t> de las academias deportivas: la falta de análisis de sus propios datos.</a:t>
            </a:r>
          </a:p>
          <a:p>
            <a:pPr marL="285750" indent="-285750">
              <a:buFont typeface="Arial" panose="020B0604020202020204" pitchFamily="34" charset="0"/>
              <a:buChar char="•"/>
            </a:pPr>
            <a:endParaRPr lang="es-MX" dirty="0"/>
          </a:p>
          <a:p>
            <a:pPr marL="285750" indent="-285750">
              <a:buFont typeface="Arial" panose="020B0604020202020204" pitchFamily="34" charset="0"/>
              <a:buChar char="•"/>
            </a:pPr>
            <a:endParaRPr lang="es-EC" dirty="0"/>
          </a:p>
        </p:txBody>
      </p:sp>
      <p:pic>
        <p:nvPicPr>
          <p:cNvPr id="4100" name="Picture 4" descr="17 millones resultados de imágenes, fotos de stock e ilustraciones libres  de regalías para Conclusión | Shutterstock">
            <a:extLst>
              <a:ext uri="{FF2B5EF4-FFF2-40B4-BE49-F238E27FC236}">
                <a16:creationId xmlns:a16="http://schemas.microsoft.com/office/drawing/2014/main" id="{ECFCE4EF-C8D0-4FDE-A0FC-4D863499AA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8072" y="5273882"/>
            <a:ext cx="2047527" cy="1584118"/>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737BFB9E-7832-7F7A-761F-E68AFA6D60A8}"/>
              </a:ext>
            </a:extLst>
          </p:cNvPr>
          <p:cNvSpPr txBox="1"/>
          <p:nvPr/>
        </p:nvSpPr>
        <p:spPr>
          <a:xfrm>
            <a:off x="5893119" y="3456919"/>
            <a:ext cx="6098952" cy="2308324"/>
          </a:xfrm>
          <a:prstGeom prst="rect">
            <a:avLst/>
          </a:prstGeom>
          <a:noFill/>
        </p:spPr>
        <p:txBody>
          <a:bodyPr wrap="square">
            <a:spAutoFit/>
          </a:bodyPr>
          <a:lstStyle/>
          <a:p>
            <a:pPr marL="285750" indent="-285750">
              <a:buFont typeface="Arial" panose="020B0604020202020204" pitchFamily="34" charset="0"/>
              <a:buChar char="•"/>
            </a:pPr>
            <a:r>
              <a:rPr lang="es-419" dirty="0">
                <a:effectLst/>
              </a:rPr>
              <a:t> </a:t>
            </a:r>
            <a:r>
              <a:rPr lang="es-MX" dirty="0">
                <a:effectLst/>
              </a:rPr>
              <a:t>El enfoque </a:t>
            </a:r>
            <a:r>
              <a:rPr lang="es-MX" b="0" dirty="0" err="1">
                <a:effectLst/>
              </a:rPr>
              <a:t>low-code</a:t>
            </a:r>
            <a:r>
              <a:rPr lang="es-MX" b="0" dirty="0">
                <a:effectLst/>
              </a:rPr>
              <a:t> + código abierto</a:t>
            </a:r>
            <a:r>
              <a:rPr lang="es-MX" dirty="0">
                <a:effectLst/>
              </a:rPr>
              <a:t> lo hace ideal para replicar en otros contextos (educación, salud, etc.)</a:t>
            </a:r>
            <a:r>
              <a:rPr lang="es-419" dirty="0"/>
              <a:t>.</a:t>
            </a:r>
          </a:p>
          <a:p>
            <a:pPr marL="285750" indent="-285750">
              <a:buFont typeface="Arial" panose="020B0604020202020204" pitchFamily="34" charset="0"/>
              <a:buChar char="•"/>
            </a:pPr>
            <a:endParaRPr lang="es-419" dirty="0"/>
          </a:p>
          <a:p>
            <a:pPr marL="285750" indent="-285750">
              <a:buFont typeface="Arial" panose="020B0604020202020204" pitchFamily="34" charset="0"/>
              <a:buChar char="•"/>
            </a:pPr>
            <a:r>
              <a:rPr lang="es-MX" dirty="0">
                <a:effectLst/>
              </a:rPr>
              <a:t>Finalmente, demuestra que un </a:t>
            </a:r>
            <a:r>
              <a:rPr lang="es-MX" b="0" dirty="0">
                <a:effectLst/>
              </a:rPr>
              <a:t>analista de datos en formación</a:t>
            </a:r>
            <a:r>
              <a:rPr lang="es-MX" dirty="0">
                <a:effectLst/>
              </a:rPr>
              <a:t> puede entregar soluciones de alto valor con impacto social y comercial.</a:t>
            </a:r>
          </a:p>
          <a:p>
            <a:endParaRPr lang="es-MX" dirty="0"/>
          </a:p>
          <a:p>
            <a:endParaRPr lang="es-EC" dirty="0"/>
          </a:p>
        </p:txBody>
      </p:sp>
    </p:spTree>
    <p:extLst>
      <p:ext uri="{BB962C8B-B14F-4D97-AF65-F5344CB8AC3E}">
        <p14:creationId xmlns:p14="http://schemas.microsoft.com/office/powerpoint/2010/main" val="2657463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4626685"/>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3892</TotalTime>
  <Words>1150</Words>
  <Application>Microsoft Office PowerPoint</Application>
  <PresentationFormat>Panorámica</PresentationFormat>
  <Paragraphs>102</Paragraphs>
  <Slides>16</Slides>
  <Notes>0</Notes>
  <HiddenSlides>0</HiddenSlides>
  <MMClips>0</MMClips>
  <ScaleCrop>false</ScaleCrop>
  <HeadingPairs>
    <vt:vector size="4" baseType="variant">
      <vt:variant>
        <vt:lpstr>Tema</vt:lpstr>
      </vt:variant>
      <vt:variant>
        <vt:i4>1</vt:i4>
      </vt:variant>
      <vt:variant>
        <vt:lpstr>Títulos de diapositiva</vt:lpstr>
      </vt:variant>
      <vt:variant>
        <vt:i4>16</vt:i4>
      </vt:variant>
    </vt:vector>
  </HeadingPairs>
  <TitlesOfParts>
    <vt:vector size="17" baseType="lpstr">
      <vt:lpstr>Tema de Office</vt:lpstr>
      <vt:lpstr>Presentación de PowerPoint</vt:lpstr>
      <vt:lpstr>Presentación de PowerPoint</vt:lpstr>
      <vt:lpstr>Presentación de PowerPoint</vt:lpstr>
      <vt:lpstr>Presentación de PowerPoint</vt:lpstr>
      <vt:lpstr>Justificación</vt:lpstr>
      <vt:lpstr>Objetivo General</vt:lpstr>
      <vt:lpstr>Objetivos Específicos</vt:lpstr>
      <vt:lpstr>Antecedentes</vt:lpstr>
      <vt:lpstr>Alcance - Impacto</vt:lpstr>
      <vt:lpstr>Viabilidad</vt:lpstr>
      <vt:lpstr>Tecnologías</vt:lpstr>
      <vt:lpstr>Innovación</vt:lpstr>
      <vt:lpstr>Metodología</vt:lpstr>
      <vt:lpstr>Referencia bibliográficas</vt:lpstr>
      <vt:lpstr>Conclusiones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Jineth Castrillón</cp:lastModifiedBy>
  <cp:revision>75</cp:revision>
  <dcterms:created xsi:type="dcterms:W3CDTF">2020-10-01T23:51:28Z</dcterms:created>
  <dcterms:modified xsi:type="dcterms:W3CDTF">2026-01-19T15:46:20Z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c111285-cafa-4fc9-8a9a-bd902089b24f_Enabled">
    <vt:lpwstr>true</vt:lpwstr>
  </property>
  <property fmtid="{D5CDD505-2E9C-101B-9397-08002B2CF9AE}" pid="3" name="MSIP_Label_fc111285-cafa-4fc9-8a9a-bd902089b24f_SetDate">
    <vt:lpwstr>2025-04-11T13:28:37Z</vt:lpwstr>
  </property>
  <property fmtid="{D5CDD505-2E9C-101B-9397-08002B2CF9AE}" pid="4" name="MSIP_Label_fc111285-cafa-4fc9-8a9a-bd902089b24f_Method">
    <vt:lpwstr>Privileged</vt:lpwstr>
  </property>
  <property fmtid="{D5CDD505-2E9C-101B-9397-08002B2CF9AE}" pid="5" name="MSIP_Label_fc111285-cafa-4fc9-8a9a-bd902089b24f_Name">
    <vt:lpwstr>Public</vt:lpwstr>
  </property>
  <property fmtid="{D5CDD505-2E9C-101B-9397-08002B2CF9AE}" pid="6" name="MSIP_Label_fc111285-cafa-4fc9-8a9a-bd902089b24f_SiteId">
    <vt:lpwstr>cbc2c381-2f2e-4d93-91d1-506c9316ace7</vt:lpwstr>
  </property>
  <property fmtid="{D5CDD505-2E9C-101B-9397-08002B2CF9AE}" pid="7" name="MSIP_Label_fc111285-cafa-4fc9-8a9a-bd902089b24f_ActionId">
    <vt:lpwstr>fc6631ea-6f1e-4fa3-8689-5ce822bd8b04</vt:lpwstr>
  </property>
  <property fmtid="{D5CDD505-2E9C-101B-9397-08002B2CF9AE}" pid="8" name="MSIP_Label_fc111285-cafa-4fc9-8a9a-bd902089b24f_ContentBits">
    <vt:lpwstr>0</vt:lpwstr>
  </property>
  <property fmtid="{D5CDD505-2E9C-101B-9397-08002B2CF9AE}" pid="9" name="MSIP_Label_fc111285-cafa-4fc9-8a9a-bd902089b24f_Tag">
    <vt:lpwstr>10, 0, 1, 1</vt:lpwstr>
  </property>
</Properties>
</file>